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3.jpg" ContentType="image/jpg"/>
  <Override PartName="/ppt/media/image4.jpg" ContentType="image/jpg"/>
  <Override PartName="/ppt/media/image6.jpg" ContentType="image/jpg"/>
  <Override PartName="/ppt/media/image7.jpg" ContentType="image/jpg"/>
  <Override PartName="/ppt/media/image8.jpg" ContentType="image/jpg"/>
  <Override PartName="/ppt/media/image9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8" r:id="rId12"/>
    <p:sldId id="269" r:id="rId13"/>
  </p:sldIdLst>
  <p:sldSz cx="20104100" cy="11309350"/>
  <p:notesSz cx="20104100" cy="1130935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821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171" y="40069"/>
            <a:ext cx="2603642" cy="26056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66294" y="4259282"/>
            <a:ext cx="17371510" cy="10369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66294" y="6036550"/>
            <a:ext cx="17371510" cy="16757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279032" y="3483352"/>
            <a:ext cx="7225030" cy="61436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1" i="0">
                <a:solidFill>
                  <a:srgbClr val="003687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171" y="40069"/>
            <a:ext cx="2603642" cy="2605645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1887444" y="1832404"/>
            <a:ext cx="16329660" cy="8429625"/>
          </a:xfrm>
          <a:custGeom>
            <a:avLst/>
            <a:gdLst/>
            <a:ahLst/>
            <a:cxnLst/>
            <a:rect l="l" t="t" r="r" b="b"/>
            <a:pathLst>
              <a:path w="16329660" h="8429625">
                <a:moveTo>
                  <a:pt x="15690485" y="0"/>
                </a:moveTo>
                <a:lnTo>
                  <a:pt x="638724" y="0"/>
                </a:lnTo>
                <a:lnTo>
                  <a:pt x="591055" y="1751"/>
                </a:lnTo>
                <a:lnTo>
                  <a:pt x="544337" y="6925"/>
                </a:lnTo>
                <a:lnTo>
                  <a:pt x="498695" y="15396"/>
                </a:lnTo>
                <a:lnTo>
                  <a:pt x="454251" y="27042"/>
                </a:lnTo>
                <a:lnTo>
                  <a:pt x="411129" y="41739"/>
                </a:lnTo>
                <a:lnTo>
                  <a:pt x="369453" y="59364"/>
                </a:lnTo>
                <a:lnTo>
                  <a:pt x="329346" y="79792"/>
                </a:lnTo>
                <a:lnTo>
                  <a:pt x="290931" y="102902"/>
                </a:lnTo>
                <a:lnTo>
                  <a:pt x="254332" y="128568"/>
                </a:lnTo>
                <a:lnTo>
                  <a:pt x="219673" y="156667"/>
                </a:lnTo>
                <a:lnTo>
                  <a:pt x="187077" y="187077"/>
                </a:lnTo>
                <a:lnTo>
                  <a:pt x="156667" y="219673"/>
                </a:lnTo>
                <a:lnTo>
                  <a:pt x="128568" y="254332"/>
                </a:lnTo>
                <a:lnTo>
                  <a:pt x="102902" y="290931"/>
                </a:lnTo>
                <a:lnTo>
                  <a:pt x="79792" y="329346"/>
                </a:lnTo>
                <a:lnTo>
                  <a:pt x="59364" y="369453"/>
                </a:lnTo>
                <a:lnTo>
                  <a:pt x="41739" y="411129"/>
                </a:lnTo>
                <a:lnTo>
                  <a:pt x="27042" y="454251"/>
                </a:lnTo>
                <a:lnTo>
                  <a:pt x="15396" y="498695"/>
                </a:lnTo>
                <a:lnTo>
                  <a:pt x="6925" y="544337"/>
                </a:lnTo>
                <a:lnTo>
                  <a:pt x="1751" y="591055"/>
                </a:lnTo>
                <a:lnTo>
                  <a:pt x="0" y="638724"/>
                </a:lnTo>
                <a:lnTo>
                  <a:pt x="0" y="7790338"/>
                </a:lnTo>
                <a:lnTo>
                  <a:pt x="1751" y="7838007"/>
                </a:lnTo>
                <a:lnTo>
                  <a:pt x="6925" y="7884724"/>
                </a:lnTo>
                <a:lnTo>
                  <a:pt x="15396" y="7930367"/>
                </a:lnTo>
                <a:lnTo>
                  <a:pt x="27042" y="7974811"/>
                </a:lnTo>
                <a:lnTo>
                  <a:pt x="41739" y="8017932"/>
                </a:lnTo>
                <a:lnTo>
                  <a:pt x="59364" y="8059609"/>
                </a:lnTo>
                <a:lnTo>
                  <a:pt x="79792" y="8099716"/>
                </a:lnTo>
                <a:lnTo>
                  <a:pt x="102902" y="8138131"/>
                </a:lnTo>
                <a:lnTo>
                  <a:pt x="128568" y="8174729"/>
                </a:lnTo>
                <a:lnTo>
                  <a:pt x="156667" y="8209389"/>
                </a:lnTo>
                <a:lnTo>
                  <a:pt x="187077" y="8241985"/>
                </a:lnTo>
                <a:lnTo>
                  <a:pt x="219673" y="8272394"/>
                </a:lnTo>
                <a:lnTo>
                  <a:pt x="254332" y="8300494"/>
                </a:lnTo>
                <a:lnTo>
                  <a:pt x="290931" y="8326160"/>
                </a:lnTo>
                <a:lnTo>
                  <a:pt x="329346" y="8349269"/>
                </a:lnTo>
                <a:lnTo>
                  <a:pt x="369453" y="8369698"/>
                </a:lnTo>
                <a:lnTo>
                  <a:pt x="411129" y="8387322"/>
                </a:lnTo>
                <a:lnTo>
                  <a:pt x="454251" y="8402019"/>
                </a:lnTo>
                <a:lnTo>
                  <a:pt x="498695" y="8413665"/>
                </a:lnTo>
                <a:lnTo>
                  <a:pt x="544337" y="8422137"/>
                </a:lnTo>
                <a:lnTo>
                  <a:pt x="591055" y="8427310"/>
                </a:lnTo>
                <a:lnTo>
                  <a:pt x="638724" y="8429062"/>
                </a:lnTo>
                <a:lnTo>
                  <a:pt x="15690485" y="8429062"/>
                </a:lnTo>
                <a:lnTo>
                  <a:pt x="15738154" y="8427310"/>
                </a:lnTo>
                <a:lnTo>
                  <a:pt x="15784871" y="8422137"/>
                </a:lnTo>
                <a:lnTo>
                  <a:pt x="15830514" y="8413665"/>
                </a:lnTo>
                <a:lnTo>
                  <a:pt x="15874958" y="8402019"/>
                </a:lnTo>
                <a:lnTo>
                  <a:pt x="15918079" y="8387322"/>
                </a:lnTo>
                <a:lnTo>
                  <a:pt x="15959756" y="8369698"/>
                </a:lnTo>
                <a:lnTo>
                  <a:pt x="15999863" y="8349269"/>
                </a:lnTo>
                <a:lnTo>
                  <a:pt x="16038278" y="8326160"/>
                </a:lnTo>
                <a:lnTo>
                  <a:pt x="16074876" y="8300494"/>
                </a:lnTo>
                <a:lnTo>
                  <a:pt x="16109536" y="8272394"/>
                </a:lnTo>
                <a:lnTo>
                  <a:pt x="16142132" y="8241985"/>
                </a:lnTo>
                <a:lnTo>
                  <a:pt x="16172541" y="8209389"/>
                </a:lnTo>
                <a:lnTo>
                  <a:pt x="16200641" y="8174729"/>
                </a:lnTo>
                <a:lnTo>
                  <a:pt x="16226307" y="8138131"/>
                </a:lnTo>
                <a:lnTo>
                  <a:pt x="16249416" y="8099716"/>
                </a:lnTo>
                <a:lnTo>
                  <a:pt x="16269845" y="8059609"/>
                </a:lnTo>
                <a:lnTo>
                  <a:pt x="16287469" y="8017932"/>
                </a:lnTo>
                <a:lnTo>
                  <a:pt x="16302166" y="7974811"/>
                </a:lnTo>
                <a:lnTo>
                  <a:pt x="16313812" y="7930367"/>
                </a:lnTo>
                <a:lnTo>
                  <a:pt x="16322284" y="7884724"/>
                </a:lnTo>
                <a:lnTo>
                  <a:pt x="16327457" y="7838007"/>
                </a:lnTo>
                <a:lnTo>
                  <a:pt x="16329209" y="7790338"/>
                </a:lnTo>
                <a:lnTo>
                  <a:pt x="16329209" y="638724"/>
                </a:lnTo>
                <a:lnTo>
                  <a:pt x="16327457" y="591055"/>
                </a:lnTo>
                <a:lnTo>
                  <a:pt x="16322284" y="544337"/>
                </a:lnTo>
                <a:lnTo>
                  <a:pt x="16313812" y="498695"/>
                </a:lnTo>
                <a:lnTo>
                  <a:pt x="16302166" y="454251"/>
                </a:lnTo>
                <a:lnTo>
                  <a:pt x="16287469" y="411129"/>
                </a:lnTo>
                <a:lnTo>
                  <a:pt x="16269845" y="369453"/>
                </a:lnTo>
                <a:lnTo>
                  <a:pt x="16249416" y="329346"/>
                </a:lnTo>
                <a:lnTo>
                  <a:pt x="16226307" y="290931"/>
                </a:lnTo>
                <a:lnTo>
                  <a:pt x="16200641" y="254332"/>
                </a:lnTo>
                <a:lnTo>
                  <a:pt x="16172541" y="219673"/>
                </a:lnTo>
                <a:lnTo>
                  <a:pt x="16142132" y="187077"/>
                </a:lnTo>
                <a:lnTo>
                  <a:pt x="16109536" y="156667"/>
                </a:lnTo>
                <a:lnTo>
                  <a:pt x="16074876" y="128568"/>
                </a:lnTo>
                <a:lnTo>
                  <a:pt x="16038278" y="102902"/>
                </a:lnTo>
                <a:lnTo>
                  <a:pt x="15999863" y="79792"/>
                </a:lnTo>
                <a:lnTo>
                  <a:pt x="15959756" y="59364"/>
                </a:lnTo>
                <a:lnTo>
                  <a:pt x="15918079" y="41739"/>
                </a:lnTo>
                <a:lnTo>
                  <a:pt x="15874958" y="27042"/>
                </a:lnTo>
                <a:lnTo>
                  <a:pt x="15830514" y="15396"/>
                </a:lnTo>
                <a:lnTo>
                  <a:pt x="15784871" y="6925"/>
                </a:lnTo>
                <a:lnTo>
                  <a:pt x="15738154" y="1751"/>
                </a:lnTo>
                <a:lnTo>
                  <a:pt x="156904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887444" y="1832404"/>
            <a:ext cx="16329660" cy="8429625"/>
          </a:xfrm>
          <a:custGeom>
            <a:avLst/>
            <a:gdLst/>
            <a:ahLst/>
            <a:cxnLst/>
            <a:rect l="l" t="t" r="r" b="b"/>
            <a:pathLst>
              <a:path w="16329660" h="8429625">
                <a:moveTo>
                  <a:pt x="638724" y="0"/>
                </a:moveTo>
                <a:lnTo>
                  <a:pt x="591055" y="1751"/>
                </a:lnTo>
                <a:lnTo>
                  <a:pt x="544337" y="6925"/>
                </a:lnTo>
                <a:lnTo>
                  <a:pt x="498695" y="15396"/>
                </a:lnTo>
                <a:lnTo>
                  <a:pt x="454251" y="27042"/>
                </a:lnTo>
                <a:lnTo>
                  <a:pt x="411129" y="41739"/>
                </a:lnTo>
                <a:lnTo>
                  <a:pt x="369453" y="59364"/>
                </a:lnTo>
                <a:lnTo>
                  <a:pt x="329346" y="79792"/>
                </a:lnTo>
                <a:lnTo>
                  <a:pt x="290931" y="102902"/>
                </a:lnTo>
                <a:lnTo>
                  <a:pt x="254332" y="128568"/>
                </a:lnTo>
                <a:lnTo>
                  <a:pt x="219673" y="156667"/>
                </a:lnTo>
                <a:lnTo>
                  <a:pt x="187077" y="187077"/>
                </a:lnTo>
                <a:lnTo>
                  <a:pt x="156667" y="219673"/>
                </a:lnTo>
                <a:lnTo>
                  <a:pt x="128568" y="254332"/>
                </a:lnTo>
                <a:lnTo>
                  <a:pt x="102902" y="290931"/>
                </a:lnTo>
                <a:lnTo>
                  <a:pt x="79792" y="329346"/>
                </a:lnTo>
                <a:lnTo>
                  <a:pt x="59364" y="369453"/>
                </a:lnTo>
                <a:lnTo>
                  <a:pt x="41739" y="411129"/>
                </a:lnTo>
                <a:lnTo>
                  <a:pt x="27042" y="454251"/>
                </a:lnTo>
                <a:lnTo>
                  <a:pt x="15396" y="498695"/>
                </a:lnTo>
                <a:lnTo>
                  <a:pt x="6925" y="544337"/>
                </a:lnTo>
                <a:lnTo>
                  <a:pt x="1751" y="591055"/>
                </a:lnTo>
                <a:lnTo>
                  <a:pt x="0" y="638724"/>
                </a:lnTo>
                <a:lnTo>
                  <a:pt x="0" y="7790338"/>
                </a:lnTo>
                <a:lnTo>
                  <a:pt x="1751" y="7838007"/>
                </a:lnTo>
                <a:lnTo>
                  <a:pt x="6925" y="7884724"/>
                </a:lnTo>
                <a:lnTo>
                  <a:pt x="15396" y="7930367"/>
                </a:lnTo>
                <a:lnTo>
                  <a:pt x="27042" y="7974811"/>
                </a:lnTo>
                <a:lnTo>
                  <a:pt x="41739" y="8017932"/>
                </a:lnTo>
                <a:lnTo>
                  <a:pt x="59364" y="8059609"/>
                </a:lnTo>
                <a:lnTo>
                  <a:pt x="79792" y="8099716"/>
                </a:lnTo>
                <a:lnTo>
                  <a:pt x="102902" y="8138131"/>
                </a:lnTo>
                <a:lnTo>
                  <a:pt x="128568" y="8174729"/>
                </a:lnTo>
                <a:lnTo>
                  <a:pt x="156667" y="8209389"/>
                </a:lnTo>
                <a:lnTo>
                  <a:pt x="187077" y="8241985"/>
                </a:lnTo>
                <a:lnTo>
                  <a:pt x="219673" y="8272394"/>
                </a:lnTo>
                <a:lnTo>
                  <a:pt x="254332" y="8300494"/>
                </a:lnTo>
                <a:lnTo>
                  <a:pt x="290931" y="8326160"/>
                </a:lnTo>
                <a:lnTo>
                  <a:pt x="329346" y="8349269"/>
                </a:lnTo>
                <a:lnTo>
                  <a:pt x="369453" y="8369698"/>
                </a:lnTo>
                <a:lnTo>
                  <a:pt x="411129" y="8387322"/>
                </a:lnTo>
                <a:lnTo>
                  <a:pt x="454251" y="8402019"/>
                </a:lnTo>
                <a:lnTo>
                  <a:pt x="498695" y="8413665"/>
                </a:lnTo>
                <a:lnTo>
                  <a:pt x="544337" y="8422137"/>
                </a:lnTo>
                <a:lnTo>
                  <a:pt x="591055" y="8427310"/>
                </a:lnTo>
                <a:lnTo>
                  <a:pt x="638724" y="8429062"/>
                </a:lnTo>
                <a:lnTo>
                  <a:pt x="15690485" y="8429062"/>
                </a:lnTo>
                <a:lnTo>
                  <a:pt x="15738154" y="8427310"/>
                </a:lnTo>
                <a:lnTo>
                  <a:pt x="15784871" y="8422137"/>
                </a:lnTo>
                <a:lnTo>
                  <a:pt x="15830514" y="8413665"/>
                </a:lnTo>
                <a:lnTo>
                  <a:pt x="15874958" y="8402019"/>
                </a:lnTo>
                <a:lnTo>
                  <a:pt x="15918079" y="8387322"/>
                </a:lnTo>
                <a:lnTo>
                  <a:pt x="15959756" y="8369698"/>
                </a:lnTo>
                <a:lnTo>
                  <a:pt x="15999863" y="8349269"/>
                </a:lnTo>
                <a:lnTo>
                  <a:pt x="16038278" y="8326160"/>
                </a:lnTo>
                <a:lnTo>
                  <a:pt x="16074876" y="8300494"/>
                </a:lnTo>
                <a:lnTo>
                  <a:pt x="16109536" y="8272394"/>
                </a:lnTo>
                <a:lnTo>
                  <a:pt x="16142132" y="8241985"/>
                </a:lnTo>
                <a:lnTo>
                  <a:pt x="16172541" y="8209389"/>
                </a:lnTo>
                <a:lnTo>
                  <a:pt x="16200641" y="8174729"/>
                </a:lnTo>
                <a:lnTo>
                  <a:pt x="16226307" y="8138131"/>
                </a:lnTo>
                <a:lnTo>
                  <a:pt x="16249416" y="8099716"/>
                </a:lnTo>
                <a:lnTo>
                  <a:pt x="16269845" y="8059609"/>
                </a:lnTo>
                <a:lnTo>
                  <a:pt x="16287469" y="8017932"/>
                </a:lnTo>
                <a:lnTo>
                  <a:pt x="16302166" y="7974811"/>
                </a:lnTo>
                <a:lnTo>
                  <a:pt x="16313812" y="7930367"/>
                </a:lnTo>
                <a:lnTo>
                  <a:pt x="16322284" y="7884724"/>
                </a:lnTo>
                <a:lnTo>
                  <a:pt x="16327457" y="7838007"/>
                </a:lnTo>
                <a:lnTo>
                  <a:pt x="16329209" y="7790338"/>
                </a:lnTo>
                <a:lnTo>
                  <a:pt x="16329209" y="638724"/>
                </a:lnTo>
                <a:lnTo>
                  <a:pt x="16327457" y="591055"/>
                </a:lnTo>
                <a:lnTo>
                  <a:pt x="16322284" y="544337"/>
                </a:lnTo>
                <a:lnTo>
                  <a:pt x="16313812" y="498695"/>
                </a:lnTo>
                <a:lnTo>
                  <a:pt x="16302166" y="454251"/>
                </a:lnTo>
                <a:lnTo>
                  <a:pt x="16287469" y="411129"/>
                </a:lnTo>
                <a:lnTo>
                  <a:pt x="16269845" y="369453"/>
                </a:lnTo>
                <a:lnTo>
                  <a:pt x="16249416" y="329346"/>
                </a:lnTo>
                <a:lnTo>
                  <a:pt x="16226307" y="290931"/>
                </a:lnTo>
                <a:lnTo>
                  <a:pt x="16200641" y="254332"/>
                </a:lnTo>
                <a:lnTo>
                  <a:pt x="16172541" y="219673"/>
                </a:lnTo>
                <a:lnTo>
                  <a:pt x="16142132" y="187077"/>
                </a:lnTo>
                <a:lnTo>
                  <a:pt x="16109536" y="156667"/>
                </a:lnTo>
                <a:lnTo>
                  <a:pt x="16074876" y="128568"/>
                </a:lnTo>
                <a:lnTo>
                  <a:pt x="16038278" y="102902"/>
                </a:lnTo>
                <a:lnTo>
                  <a:pt x="15999863" y="79792"/>
                </a:lnTo>
                <a:lnTo>
                  <a:pt x="15959756" y="59364"/>
                </a:lnTo>
                <a:lnTo>
                  <a:pt x="15918079" y="41739"/>
                </a:lnTo>
                <a:lnTo>
                  <a:pt x="15874958" y="27042"/>
                </a:lnTo>
                <a:lnTo>
                  <a:pt x="15830514" y="15396"/>
                </a:lnTo>
                <a:lnTo>
                  <a:pt x="15784871" y="6925"/>
                </a:lnTo>
                <a:lnTo>
                  <a:pt x="15738154" y="1751"/>
                </a:lnTo>
                <a:lnTo>
                  <a:pt x="15690485" y="0"/>
                </a:lnTo>
                <a:lnTo>
                  <a:pt x="638724" y="0"/>
                </a:lnTo>
                <a:close/>
              </a:path>
            </a:pathLst>
          </a:custGeom>
          <a:ln w="57589">
            <a:solidFill>
              <a:srgbClr val="6DC20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093185" y="1310554"/>
            <a:ext cx="15917729" cy="96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9367" y="2483971"/>
            <a:ext cx="17411700" cy="64477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10/15/2024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66003" y="3219967"/>
            <a:ext cx="6640830" cy="643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050" spc="10" dirty="0"/>
              <a:t>ObradorIQ</a:t>
            </a:r>
            <a:endParaRPr sz="4050"/>
          </a:p>
        </p:txBody>
      </p:sp>
      <p:sp>
        <p:nvSpPr>
          <p:cNvPr id="3" name="object 3"/>
          <p:cNvSpPr txBox="1"/>
          <p:nvPr/>
        </p:nvSpPr>
        <p:spPr>
          <a:xfrm>
            <a:off x="1466003" y="4195333"/>
            <a:ext cx="5666740" cy="552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50" spc="85" dirty="0">
                <a:solidFill>
                  <a:srgbClr val="FFFFFF"/>
                </a:solidFill>
                <a:latin typeface="Arial MT"/>
                <a:cs typeface="Arial MT"/>
              </a:rPr>
              <a:t>The AI Waste-Killer for Small Bakery Chains</a:t>
            </a:r>
            <a:endParaRPr sz="345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66003" y="6389148"/>
            <a:ext cx="5561330" cy="18853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50" spc="85" dirty="0">
                <a:solidFill>
                  <a:srgbClr val="FFFFFF"/>
                </a:solidFill>
                <a:latin typeface="Arial MT"/>
                <a:cs typeface="Arial MT"/>
              </a:rPr>
              <a:t>Charles de Wouters · Asier Gomez · Ivan Delgado · Vicente Giner · Jon Uria · Erik Conejo · Juan Carneiro</a:t>
            </a:r>
            <a:endParaRPr sz="34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55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3450" spc="85" dirty="0">
                <a:solidFill>
                  <a:srgbClr val="FFFFFF"/>
                </a:solidFill>
                <a:latin typeface="Arial MT"/>
                <a:cs typeface="Arial MT"/>
              </a:rPr>
              <a:t>July 8, 2026</a:t>
            </a:r>
            <a:endParaRPr sz="345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171" y="40069"/>
            <a:ext cx="2603642" cy="260564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7585017" y="4437008"/>
            <a:ext cx="1591945" cy="240665"/>
            <a:chOff x="7585017" y="4437008"/>
            <a:chExt cx="1591945" cy="240665"/>
          </a:xfrm>
        </p:grpSpPr>
        <p:sp>
          <p:nvSpPr>
            <p:cNvPr id="7" name="object 7"/>
            <p:cNvSpPr/>
            <p:nvPr/>
          </p:nvSpPr>
          <p:spPr>
            <a:xfrm>
              <a:off x="7585017" y="4557038"/>
              <a:ext cx="1482725" cy="0"/>
            </a:xfrm>
            <a:custGeom>
              <a:avLst/>
              <a:gdLst/>
              <a:ahLst/>
              <a:cxnLst/>
              <a:rect l="l" t="t" r="r" b="b"/>
              <a:pathLst>
                <a:path w="1482725">
                  <a:moveTo>
                    <a:pt x="1482415" y="0"/>
                  </a:moveTo>
                  <a:lnTo>
                    <a:pt x="0" y="0"/>
                  </a:lnTo>
                </a:path>
              </a:pathLst>
            </a:custGeom>
            <a:ln w="72018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68829" y="4437008"/>
              <a:ext cx="208279" cy="240665"/>
            </a:xfrm>
            <a:custGeom>
              <a:avLst/>
              <a:gdLst/>
              <a:ahLst/>
              <a:cxnLst/>
              <a:rect l="l" t="t" r="r" b="b"/>
              <a:pathLst>
                <a:path w="208279" h="240664">
                  <a:moveTo>
                    <a:pt x="0" y="0"/>
                  </a:moveTo>
                  <a:lnTo>
                    <a:pt x="0" y="240055"/>
                  </a:lnTo>
                  <a:lnTo>
                    <a:pt x="207894" y="12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DC20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7585017" y="6600780"/>
            <a:ext cx="1591945" cy="240665"/>
            <a:chOff x="7585017" y="6600780"/>
            <a:chExt cx="1591945" cy="240665"/>
          </a:xfrm>
        </p:grpSpPr>
        <p:sp>
          <p:nvSpPr>
            <p:cNvPr id="10" name="object 10"/>
            <p:cNvSpPr/>
            <p:nvPr/>
          </p:nvSpPr>
          <p:spPr>
            <a:xfrm>
              <a:off x="7585017" y="6720810"/>
              <a:ext cx="1482725" cy="0"/>
            </a:xfrm>
            <a:custGeom>
              <a:avLst/>
              <a:gdLst/>
              <a:ahLst/>
              <a:cxnLst/>
              <a:rect l="l" t="t" r="r" b="b"/>
              <a:pathLst>
                <a:path w="1482725">
                  <a:moveTo>
                    <a:pt x="1482415" y="0"/>
                  </a:moveTo>
                  <a:lnTo>
                    <a:pt x="0" y="0"/>
                  </a:lnTo>
                </a:path>
              </a:pathLst>
            </a:custGeom>
            <a:ln w="72018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968829" y="6600780"/>
              <a:ext cx="208279" cy="240665"/>
            </a:xfrm>
            <a:custGeom>
              <a:avLst/>
              <a:gdLst/>
              <a:ahLst/>
              <a:cxnLst/>
              <a:rect l="l" t="t" r="r" b="b"/>
              <a:pathLst>
                <a:path w="208279" h="240665">
                  <a:moveTo>
                    <a:pt x="0" y="0"/>
                  </a:moveTo>
                  <a:lnTo>
                    <a:pt x="0" y="240055"/>
                  </a:lnTo>
                  <a:lnTo>
                    <a:pt x="207894" y="12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DC20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5470228" y="7934144"/>
            <a:ext cx="3706495" cy="240665"/>
            <a:chOff x="5470228" y="7934144"/>
            <a:chExt cx="3706495" cy="240665"/>
          </a:xfrm>
        </p:grpSpPr>
        <p:sp>
          <p:nvSpPr>
            <p:cNvPr id="13" name="object 13"/>
            <p:cNvSpPr/>
            <p:nvPr/>
          </p:nvSpPr>
          <p:spPr>
            <a:xfrm>
              <a:off x="5470228" y="8054176"/>
              <a:ext cx="3597275" cy="0"/>
            </a:xfrm>
            <a:custGeom>
              <a:avLst/>
              <a:gdLst/>
              <a:ahLst/>
              <a:cxnLst/>
              <a:rect l="l" t="t" r="r" b="b"/>
              <a:pathLst>
                <a:path w="3597275">
                  <a:moveTo>
                    <a:pt x="3597204" y="0"/>
                  </a:moveTo>
                  <a:lnTo>
                    <a:pt x="0" y="0"/>
                  </a:lnTo>
                </a:path>
              </a:pathLst>
            </a:custGeom>
            <a:ln w="72018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68829" y="7934144"/>
              <a:ext cx="208279" cy="240665"/>
            </a:xfrm>
            <a:custGeom>
              <a:avLst/>
              <a:gdLst/>
              <a:ahLst/>
              <a:cxnLst/>
              <a:rect l="l" t="t" r="r" b="b"/>
              <a:pathLst>
                <a:path w="208279" h="240665">
                  <a:moveTo>
                    <a:pt x="0" y="0"/>
                  </a:moveTo>
                  <a:lnTo>
                    <a:pt x="0" y="240055"/>
                  </a:lnTo>
                  <a:lnTo>
                    <a:pt x="207894" y="12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DC20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466003" y="10214734"/>
            <a:ext cx="3474720" cy="4025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450" b="1" spc="-5" dirty="0">
                <a:solidFill>
                  <a:srgbClr val="FFFFFF"/>
                </a:solidFill>
                <a:latin typeface="Arial"/>
                <a:cs typeface="Arial"/>
              </a:rPr>
              <a:t>Innovation</a:t>
            </a:r>
            <a:r>
              <a:rPr sz="245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50" b="1" spc="-5" dirty="0">
                <a:solidFill>
                  <a:srgbClr val="FFFFFF"/>
                </a:solidFill>
                <a:latin typeface="Arial"/>
                <a:cs typeface="Arial"/>
              </a:rPr>
              <a:t>Engineering</a:t>
            </a:r>
            <a:endParaRPr sz="245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711745" y="5577811"/>
            <a:ext cx="8196580" cy="0"/>
          </a:xfrm>
          <a:custGeom>
            <a:avLst/>
            <a:gdLst/>
            <a:ahLst/>
            <a:cxnLst/>
            <a:rect l="l" t="t" r="r" b="b"/>
            <a:pathLst>
              <a:path w="8196580">
                <a:moveTo>
                  <a:pt x="0" y="0"/>
                </a:moveTo>
                <a:lnTo>
                  <a:pt x="8196085" y="0"/>
                </a:lnTo>
              </a:path>
            </a:pathLst>
          </a:custGeom>
          <a:ln w="41883">
            <a:solidFill>
              <a:srgbClr val="6DC20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609655" y="3966528"/>
            <a:ext cx="8293100" cy="1144270"/>
          </a:xfrm>
          <a:custGeom>
            <a:avLst/>
            <a:gdLst/>
            <a:ahLst/>
            <a:cxnLst/>
            <a:rect l="l" t="t" r="r" b="b"/>
            <a:pathLst>
              <a:path w="8293100" h="1144270">
                <a:moveTo>
                  <a:pt x="8292941" y="0"/>
                </a:moveTo>
                <a:lnTo>
                  <a:pt x="0" y="0"/>
                </a:lnTo>
                <a:lnTo>
                  <a:pt x="0" y="1143944"/>
                </a:lnTo>
                <a:lnTo>
                  <a:pt x="8292941" y="1143944"/>
                </a:lnTo>
                <a:lnTo>
                  <a:pt x="8292941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object 18"/>
          <p:cNvSpPr/>
          <p:nvPr/>
        </p:nvSpPr>
        <p:spPr>
          <a:xfrm>
            <a:off x="9609655" y="6103971"/>
            <a:ext cx="8293100" cy="1170305"/>
          </a:xfrm>
          <a:custGeom>
            <a:avLst/>
            <a:gdLst/>
            <a:ahLst/>
            <a:cxnLst/>
            <a:rect l="l" t="t" r="r" b="b"/>
            <a:pathLst>
              <a:path w="8293100" h="1170304">
                <a:moveTo>
                  <a:pt x="8292941" y="0"/>
                </a:moveTo>
                <a:lnTo>
                  <a:pt x="0" y="0"/>
                </a:lnTo>
                <a:lnTo>
                  <a:pt x="0" y="1170121"/>
                </a:lnTo>
                <a:lnTo>
                  <a:pt x="8292941" y="1170121"/>
                </a:lnTo>
                <a:lnTo>
                  <a:pt x="8292941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1561166" y="7598689"/>
            <a:ext cx="4497705" cy="911225"/>
          </a:xfrm>
          <a:custGeom>
            <a:avLst/>
            <a:gdLst/>
            <a:ahLst/>
            <a:cxnLst/>
            <a:rect l="l" t="t" r="r" b="b"/>
            <a:pathLst>
              <a:path w="4497705" h="911225">
                <a:moveTo>
                  <a:pt x="4497245" y="0"/>
                </a:moveTo>
                <a:lnTo>
                  <a:pt x="0" y="0"/>
                </a:lnTo>
                <a:lnTo>
                  <a:pt x="0" y="910967"/>
                </a:lnTo>
                <a:lnTo>
                  <a:pt x="4497245" y="910967"/>
                </a:lnTo>
                <a:lnTo>
                  <a:pt x="4497245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779421" y="2788261"/>
            <a:ext cx="4998720" cy="7480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750" spc="-10" dirty="0">
                <a:solidFill>
                  <a:srgbClr val="003687"/>
                </a:solidFill>
              </a:rPr>
              <a:t>OBRADORIQ</a:t>
            </a:r>
            <a:endParaRPr sz="4750"/>
          </a:p>
        </p:txBody>
      </p:sp>
      <p:sp>
        <p:nvSpPr>
          <p:cNvPr id="7" name="object 7"/>
          <p:cNvSpPr txBox="1"/>
          <p:nvPr/>
        </p:nvSpPr>
        <p:spPr>
          <a:xfrm>
            <a:off x="2779421" y="4087695"/>
            <a:ext cx="7310755" cy="4781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50" b="1" spc="-35" dirty="0">
                <a:solidFill>
                  <a:srgbClr val="003687"/>
                </a:solidFill>
                <a:latin typeface="Arial"/>
                <a:cs typeface="Arial"/>
              </a:rPr>
              <a:t>Team</a:t>
            </a:r>
            <a:r>
              <a:rPr sz="2950" b="1" dirty="0">
                <a:solidFill>
                  <a:srgbClr val="003687"/>
                </a:solidFill>
                <a:latin typeface="Arial"/>
                <a:cs typeface="Arial"/>
              </a:rPr>
              <a:t> </a:t>
            </a:r>
            <a:r>
              <a:rPr sz="2950" b="1" spc="30" dirty="0">
                <a:solidFill>
                  <a:srgbClr val="003687"/>
                </a:solidFill>
                <a:latin typeface="Arial"/>
                <a:cs typeface="Arial"/>
              </a:rPr>
              <a:t>members</a:t>
            </a:r>
            <a:r>
              <a:rPr sz="2950" b="1" spc="5" dirty="0">
                <a:solidFill>
                  <a:srgbClr val="003687"/>
                </a:solidFill>
                <a:latin typeface="Arial"/>
                <a:cs typeface="Arial"/>
              </a:rPr>
              <a:t> </a:t>
            </a:r>
            <a:r>
              <a:rPr sz="2950" b="1" spc="10" dirty="0">
                <a:solidFill>
                  <a:srgbClr val="003687"/>
                </a:solidFill>
                <a:latin typeface="Arial"/>
                <a:cs typeface="Arial"/>
              </a:rPr>
              <a:t>and</a:t>
            </a:r>
            <a:r>
              <a:rPr sz="2950" b="1" spc="5" dirty="0">
                <a:solidFill>
                  <a:srgbClr val="003687"/>
                </a:solidFill>
                <a:latin typeface="Arial"/>
                <a:cs typeface="Arial"/>
              </a:rPr>
              <a:t> </a:t>
            </a:r>
            <a:r>
              <a:rPr sz="2950" b="1" spc="40" dirty="0">
                <a:solidFill>
                  <a:srgbClr val="003687"/>
                </a:solidFill>
                <a:latin typeface="Arial"/>
                <a:cs typeface="Arial"/>
              </a:rPr>
              <a:t>contact</a:t>
            </a:r>
            <a:r>
              <a:rPr sz="2950" b="1" spc="5" dirty="0">
                <a:solidFill>
                  <a:srgbClr val="003687"/>
                </a:solidFill>
                <a:latin typeface="Arial"/>
                <a:cs typeface="Arial"/>
              </a:rPr>
              <a:t> </a:t>
            </a:r>
            <a:r>
              <a:rPr sz="2950" b="1" spc="-15" dirty="0">
                <a:solidFill>
                  <a:srgbClr val="003687"/>
                </a:solidFill>
                <a:latin typeface="Arial"/>
                <a:cs typeface="Arial"/>
              </a:rPr>
              <a:t>information:</a:t>
            </a:r>
            <a:endParaRPr sz="2950">
              <a:latin typeface="Arial"/>
              <a:cs typeface="Arial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2786888" y="5153743"/>
          <a:ext cx="14508480" cy="59962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54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54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95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950" b="1" spc="20" dirty="0">
                          <a:solidFill>
                            <a:srgbClr val="F7A839"/>
                          </a:solidFill>
                          <a:latin typeface="Arial"/>
                          <a:cs typeface="Arial"/>
                        </a:rPr>
                        <a:t>Name: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12700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3815" algn="ctr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950" b="1" spc="-30" dirty="0">
                          <a:solidFill>
                            <a:srgbClr val="F7A839"/>
                          </a:solidFill>
                          <a:latin typeface="Arial"/>
                          <a:cs typeface="Arial"/>
                        </a:rPr>
                        <a:t>Email: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12700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Charles de Wouters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charles.dewouters@student.ie.edu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Asier Gomez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asier.gomez@student.ie.edu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Ivan Delgado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ivan.delgado@student.ie.edu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28575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Vicente Giner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vicente.giner@student.ie.edu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Jon Uria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jon.uria@student.ie.edu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Erik Conejo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erik.conejo@student.ie.edu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53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Juan Carneiro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E2364"/>
                      </a:solidFill>
                      <a:prstDash val="solid"/>
                    </a:lnL>
                    <a:lnR w="28575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600" b="0">
                          <a:solidFill>
                            <a:srgbClr val="1E2364"/>
                          </a:solidFill>
                          <a:latin typeface="Arial"/>
                        </a:rPr>
                        <a:t>juan.carneiro@student.ie.edu</a:t>
                      </a: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1E2364"/>
                      </a:solidFill>
                      <a:prstDash val="solid"/>
                    </a:lnL>
                    <a:lnR w="12700">
                      <a:solidFill>
                        <a:srgbClr val="1E2364"/>
                      </a:solidFill>
                      <a:prstDash val="solid"/>
                    </a:lnR>
                    <a:lnT w="28575">
                      <a:solidFill>
                        <a:srgbClr val="1E2364"/>
                      </a:solidFill>
                      <a:prstDash val="solid"/>
                    </a:lnT>
                    <a:lnB w="12700">
                      <a:solidFill>
                        <a:srgbClr val="1E236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object 9"/>
          <p:cNvSpPr/>
          <p:nvPr/>
        </p:nvSpPr>
        <p:spPr>
          <a:xfrm>
            <a:off x="8300794" y="2674523"/>
            <a:ext cx="8999855" cy="962025"/>
          </a:xfrm>
          <a:custGeom>
            <a:avLst/>
            <a:gdLst/>
            <a:ahLst/>
            <a:cxnLst/>
            <a:rect l="l" t="t" r="r" b="b"/>
            <a:pathLst>
              <a:path w="8999855" h="962025">
                <a:moveTo>
                  <a:pt x="0" y="0"/>
                </a:moveTo>
                <a:lnTo>
                  <a:pt x="8999725" y="0"/>
                </a:lnTo>
                <a:lnTo>
                  <a:pt x="8999725" y="961489"/>
                </a:lnTo>
                <a:lnTo>
                  <a:pt x="0" y="961489"/>
                </a:lnTo>
                <a:lnTo>
                  <a:pt x="0" y="0"/>
                </a:lnTo>
                <a:close/>
              </a:path>
            </a:pathLst>
          </a:custGeom>
          <a:ln w="10470">
            <a:solidFill>
              <a:srgbClr val="1E236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6608" y="313718"/>
            <a:ext cx="4940300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14300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900"/>
              </a:spcBef>
            </a:pPr>
            <a:r>
              <a:rPr sz="2950" spc="50" dirty="0"/>
              <a:t>Need</a:t>
            </a:r>
            <a:endParaRPr sz="2950"/>
          </a:p>
        </p:txBody>
      </p:sp>
      <p:sp>
        <p:nvSpPr>
          <p:cNvPr id="3" name="object 3"/>
          <p:cNvSpPr txBox="1"/>
          <p:nvPr/>
        </p:nvSpPr>
        <p:spPr>
          <a:xfrm>
            <a:off x="296608" y="5699831"/>
            <a:ext cx="9829800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23189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969"/>
              </a:spcBef>
            </a:pPr>
            <a:r>
              <a:rPr sz="2950" b="1" spc="-45" dirty="0">
                <a:solidFill>
                  <a:srgbClr val="FFFFFF"/>
                </a:solidFill>
                <a:latin typeface="Arial"/>
                <a:cs typeface="Arial"/>
              </a:rPr>
              <a:t>Why</a:t>
            </a:r>
            <a:r>
              <a:rPr sz="2950" b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-55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295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-2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295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6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950" b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10" dirty="0">
                <a:solidFill>
                  <a:srgbClr val="FFFFFF"/>
                </a:solidFill>
                <a:latin typeface="Arial"/>
                <a:cs typeface="Arial"/>
              </a:rPr>
              <a:t>good</a:t>
            </a:r>
            <a:r>
              <a:rPr sz="2950" b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dirty="0">
                <a:solidFill>
                  <a:srgbClr val="FFFFFF"/>
                </a:solidFill>
                <a:latin typeface="Arial"/>
                <a:cs typeface="Arial"/>
              </a:rPr>
              <a:t>space?</a:t>
            </a:r>
            <a:endParaRPr sz="295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244860" y="5699831"/>
            <a:ext cx="9607550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23189" rIns="0" bIns="0" rtlCol="0">
            <a:spAutoFit/>
          </a:bodyPr>
          <a:lstStyle/>
          <a:p>
            <a:pPr marL="247650">
              <a:lnSpc>
                <a:spcPct val="100000"/>
              </a:lnSpc>
              <a:spcBef>
                <a:spcPts val="969"/>
              </a:spcBef>
            </a:pPr>
            <a:r>
              <a:rPr sz="2950" b="1" spc="65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29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-1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29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-4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r>
              <a:rPr sz="295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950" b="1" spc="-35" dirty="0">
                <a:solidFill>
                  <a:srgbClr val="FFFFFF"/>
                </a:solidFill>
                <a:latin typeface="Arial"/>
                <a:cs typeface="Arial"/>
              </a:rPr>
              <a:t>win:</a:t>
            </a:r>
            <a:endParaRPr sz="29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95285" y="313718"/>
            <a:ext cx="4717415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14300" rIns="0" bIns="0" rtlCol="0">
            <a:spAutoFit/>
          </a:bodyPr>
          <a:lstStyle/>
          <a:p>
            <a:pPr marL="326390">
              <a:lnSpc>
                <a:spcPct val="100000"/>
              </a:lnSpc>
              <a:spcBef>
                <a:spcPts val="900"/>
              </a:spcBef>
            </a:pPr>
            <a:r>
              <a:rPr sz="2950" b="1" spc="-5" dirty="0">
                <a:solidFill>
                  <a:srgbClr val="FFFFFF"/>
                </a:solidFill>
                <a:latin typeface="Arial"/>
                <a:cs typeface="Arial"/>
              </a:rPr>
              <a:t>Approach</a:t>
            </a:r>
            <a:endParaRPr sz="29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44860" y="313718"/>
            <a:ext cx="4717415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14300" rIns="0" bIns="0" rtlCol="0">
            <a:spAutoFit/>
          </a:bodyPr>
          <a:lstStyle/>
          <a:p>
            <a:pPr marL="247650">
              <a:lnSpc>
                <a:spcPct val="100000"/>
              </a:lnSpc>
              <a:spcBef>
                <a:spcPts val="900"/>
              </a:spcBef>
            </a:pPr>
            <a:r>
              <a:rPr sz="2950" b="1" spc="-80" dirty="0">
                <a:solidFill>
                  <a:srgbClr val="FFFFFF"/>
                </a:solidFill>
                <a:latin typeface="Tahoma"/>
                <a:cs typeface="Tahoma"/>
              </a:rPr>
              <a:t>Benefit</a:t>
            </a:r>
            <a:endParaRPr sz="29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120932" y="313718"/>
            <a:ext cx="4717415" cy="759460"/>
          </a:xfrm>
          <a:prstGeom prst="rect">
            <a:avLst/>
          </a:prstGeom>
          <a:solidFill>
            <a:srgbClr val="6DC201"/>
          </a:solidFill>
        </p:spPr>
        <p:txBody>
          <a:bodyPr vert="horz" wrap="square" lIns="0" tIns="114300" rIns="0" bIns="0" rtlCol="0">
            <a:spAutoFit/>
          </a:bodyPr>
          <a:lstStyle/>
          <a:p>
            <a:pPr marL="213995">
              <a:lnSpc>
                <a:spcPct val="100000"/>
              </a:lnSpc>
              <a:spcBef>
                <a:spcPts val="900"/>
              </a:spcBef>
            </a:pPr>
            <a:r>
              <a:rPr sz="2950" b="1" spc="15" dirty="0">
                <a:solidFill>
                  <a:srgbClr val="FFFFFF"/>
                </a:solidFill>
                <a:latin typeface="Arial"/>
                <a:cs typeface="Arial"/>
              </a:rPr>
              <a:t>Competition</a:t>
            </a:r>
            <a:endParaRPr sz="295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96608" y="6589856"/>
            <a:ext cx="9815830" cy="1113155"/>
          </a:xfrm>
          <a:custGeom>
            <a:avLst/>
            <a:gdLst/>
            <a:ahLst/>
            <a:cxnLst/>
            <a:rect l="l" t="t" r="r" b="b"/>
            <a:pathLst>
              <a:path w="9815830" h="1113154">
                <a:moveTo>
                  <a:pt x="9815748" y="0"/>
                </a:moveTo>
                <a:lnTo>
                  <a:pt x="0" y="0"/>
                </a:lnTo>
                <a:lnTo>
                  <a:pt x="0" y="1113055"/>
                </a:lnTo>
                <a:lnTo>
                  <a:pt x="9815748" y="1113055"/>
                </a:lnTo>
                <a:lnTo>
                  <a:pt x="9815748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0258755" y="6589856"/>
            <a:ext cx="9593580" cy="1113155"/>
          </a:xfrm>
          <a:custGeom>
            <a:avLst/>
            <a:gdLst/>
            <a:ahLst/>
            <a:cxnLst/>
            <a:rect l="l" t="t" r="r" b="b"/>
            <a:pathLst>
              <a:path w="9593580" h="1113154">
                <a:moveTo>
                  <a:pt x="9593142" y="0"/>
                </a:moveTo>
                <a:lnTo>
                  <a:pt x="0" y="0"/>
                </a:lnTo>
                <a:lnTo>
                  <a:pt x="0" y="1113055"/>
                </a:lnTo>
                <a:lnTo>
                  <a:pt x="9593142" y="1113055"/>
                </a:lnTo>
                <a:lnTo>
                  <a:pt x="9593142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6606" y="1223528"/>
            <a:ext cx="4940300" cy="4326255"/>
          </a:xfrm>
          <a:prstGeom prst="rect">
            <a:avLst/>
          </a:prstGeom>
          <a:solidFill>
            <a:srgbClr val="D3E8F2"/>
          </a:solidFill>
        </p:spPr>
        <p:txBody>
          <a:bodyPr vert="horz" wrap="square" lIns="0" tIns="264795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2085"/>
              </a:spcBef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Small bakery chains (2-4 sites) over-produce at one shop while another sells out.</a:t>
            </a:r>
            <a:endParaRPr sz="2000">
              <a:latin typeface="Arial"/>
              <a:cs typeface="Arial"/>
            </a:endParaRP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Waste is money already spent; a stockout is margin left on the floor.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Owners plan from gut feel + yesterday's leftovers — no one can see the cross-site imbalance.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15530" y="6754049"/>
            <a:ext cx="5250180" cy="7378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799"/>
              </a:lnSpc>
              <a:spcBef>
                <a:spcPts val="95"/>
              </a:spcBef>
            </a:pPr>
            <a:r>
              <a:rPr sz="1600" b="1" spc="50" dirty="0">
                <a:solidFill>
                  <a:srgbClr val="1E2364"/>
                </a:solidFill>
                <a:latin typeface="Arial"/>
                <a:cs typeface="Arial"/>
              </a:rPr>
              <a:t>Solo-bakery tools optimize one site; ERP suites are too heavy for 2-4 sites.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477619" y="6733270"/>
            <a:ext cx="4277360" cy="7791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36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E2364"/>
                </a:solidFill>
                <a:latin typeface="Arial"/>
                <a:cs typeface="Arial"/>
              </a:rPr>
              <a:t>Win on trust: every number is grounded and verifiable, not a black box.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395280" y="1223528"/>
            <a:ext cx="4717415" cy="4326255"/>
          </a:xfrm>
          <a:prstGeom prst="rect">
            <a:avLst/>
          </a:prstGeom>
          <a:solidFill>
            <a:srgbClr val="D3E8F2"/>
          </a:solidFill>
        </p:spPr>
        <p:txBody>
          <a:bodyPr vert="horz" wrap="square" lIns="0" tIns="264795" rIns="0" bIns="0" rtlCol="0">
            <a:spAutoFit/>
          </a:bodyPr>
          <a:lstStyle/>
          <a:p>
            <a:pPr marL="231140">
              <a:lnSpc>
                <a:spcPct val="100000"/>
              </a:lnSpc>
              <a:spcBef>
                <a:spcPts val="2085"/>
              </a:spcBef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Deterministic recommender core: weather/holiday-aware forecast -&gt; newsvendor optimizer.</a:t>
            </a:r>
            <a:endParaRPr sz="2000">
              <a:latin typeface="Arial"/>
              <a:cs typeface="Arial"/>
            </a:endParaRP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Cross-site reallocation: flags a chronic over-producer vs. a sell-out sibling site.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Trust-Layer-grounded LLM agent phrases results &amp; answers questions — never invents a number.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0258755" y="1223528"/>
            <a:ext cx="4717415" cy="4326255"/>
          </a:xfrm>
          <a:prstGeom prst="rect">
            <a:avLst/>
          </a:prstGeom>
          <a:solidFill>
            <a:srgbClr val="D3E8F2"/>
          </a:solidFill>
        </p:spPr>
        <p:txBody>
          <a:bodyPr vert="horz" wrap="square" lIns="0" tIns="264795" rIns="0" bIns="0" rtlCol="0">
            <a:spAutoFit/>
          </a:bodyPr>
          <a:lstStyle/>
          <a:p>
            <a:pPr marL="233679">
              <a:lnSpc>
                <a:spcPct val="100000"/>
              </a:lnSpc>
              <a:spcBef>
                <a:spcPts val="2085"/>
              </a:spcBef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+€997 profit and 11% less waste vs. the bakery's own baseline (walk-forward backtest).</a:t>
            </a:r>
            <a:endParaRPr sz="2000">
              <a:latin typeface="Tahoma"/>
              <a:cs typeface="Tahoma"/>
            </a:endParaRP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An 11:00 intraday check-in recovers ≈€1,154/week across the chain.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Every recommendation is expressed in euros — the unit the owner already thinks in.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5134826" y="1223528"/>
            <a:ext cx="4717415" cy="4326255"/>
          </a:xfrm>
          <a:prstGeom prst="rect">
            <a:avLst/>
          </a:prstGeom>
          <a:solidFill>
            <a:srgbClr val="D3E8F2"/>
          </a:solidFill>
        </p:spPr>
        <p:txBody>
          <a:bodyPr vert="horz" wrap="square" lIns="0" tIns="381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0"/>
              </a:spcBef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Enterprise ERP forecasting — accurate but too heavy/expensive for a 2-4 site chain.</a:t>
            </a:r>
            <a:endParaRPr sz="2000">
              <a:latin typeface="Times New Roman"/>
              <a:cs typeface="Times New Roman"/>
            </a:endParaRP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Generic single-site tools — no cross-site reallocation, no baker-friendly interface.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E2364"/>
                </a:solidFill>
                <a:latin typeface="Arial"/>
              </a:rPr>
              <a:t>•  Today's real alternative: gut feel + yesterday's leftovers.</a:t>
            </a:r>
          </a:p>
        </p:txBody>
      </p:sp>
      <p:sp>
        <p:nvSpPr>
          <p:cNvPr id="16" name="object 16"/>
          <p:cNvSpPr/>
          <p:nvPr/>
        </p:nvSpPr>
        <p:spPr>
          <a:xfrm>
            <a:off x="10258797" y="7702901"/>
            <a:ext cx="9579610" cy="3417570"/>
          </a:xfrm>
          <a:custGeom>
            <a:avLst/>
            <a:gdLst/>
            <a:ahLst/>
            <a:cxnLst/>
            <a:rect l="l" t="t" r="r" b="b"/>
            <a:pathLst>
              <a:path w="9579610" h="3417570">
                <a:moveTo>
                  <a:pt x="9579184" y="0"/>
                </a:moveTo>
                <a:lnTo>
                  <a:pt x="0" y="0"/>
                </a:lnTo>
                <a:lnTo>
                  <a:pt x="0" y="3417178"/>
                </a:lnTo>
                <a:lnTo>
                  <a:pt x="9579184" y="3417178"/>
                </a:lnTo>
                <a:lnTo>
                  <a:pt x="9579184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6606" y="7702901"/>
            <a:ext cx="9811385" cy="3417570"/>
          </a:xfrm>
          <a:custGeom>
            <a:avLst/>
            <a:gdLst/>
            <a:ahLst/>
            <a:cxnLst/>
            <a:rect l="l" t="t" r="r" b="b"/>
            <a:pathLst>
              <a:path w="9811385" h="3417570">
                <a:moveTo>
                  <a:pt x="9810844" y="0"/>
                </a:moveTo>
                <a:lnTo>
                  <a:pt x="0" y="0"/>
                </a:lnTo>
                <a:lnTo>
                  <a:pt x="0" y="3417178"/>
                </a:lnTo>
                <a:lnTo>
                  <a:pt x="9810844" y="3417178"/>
                </a:lnTo>
                <a:lnTo>
                  <a:pt x="9810844" y="0"/>
                </a:lnTo>
                <a:close/>
              </a:path>
            </a:pathLst>
          </a:custGeom>
          <a:solidFill>
            <a:srgbClr val="D3E8F2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668117" y="2398655"/>
            <a:ext cx="7764780" cy="7480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750" spc="-140" dirty="0">
                <a:solidFill>
                  <a:srgbClr val="003687"/>
                </a:solidFill>
              </a:rPr>
              <a:t>WHAT</a:t>
            </a:r>
            <a:r>
              <a:rPr sz="4750" spc="-30" dirty="0">
                <a:solidFill>
                  <a:srgbClr val="003687"/>
                </a:solidFill>
              </a:rPr>
              <a:t> </a:t>
            </a:r>
            <a:r>
              <a:rPr sz="4750" spc="-10" dirty="0">
                <a:solidFill>
                  <a:srgbClr val="003687"/>
                </a:solidFill>
              </a:rPr>
              <a:t>IS</a:t>
            </a:r>
            <a:r>
              <a:rPr sz="4750" spc="-30" dirty="0">
                <a:solidFill>
                  <a:srgbClr val="003687"/>
                </a:solidFill>
              </a:rPr>
              <a:t> </a:t>
            </a:r>
            <a:r>
              <a:rPr sz="4750" spc="15" dirty="0">
                <a:solidFill>
                  <a:srgbClr val="003687"/>
                </a:solidFill>
              </a:rPr>
              <a:t>YOUR</a:t>
            </a:r>
            <a:r>
              <a:rPr sz="4750" spc="-30" dirty="0">
                <a:solidFill>
                  <a:srgbClr val="003687"/>
                </a:solidFill>
              </a:rPr>
              <a:t> </a:t>
            </a:r>
            <a:r>
              <a:rPr sz="4750" spc="-40" dirty="0">
                <a:solidFill>
                  <a:srgbClr val="003687"/>
                </a:solidFill>
              </a:rPr>
              <a:t>PROJECT?</a:t>
            </a:r>
            <a:endParaRPr sz="4750"/>
          </a:p>
        </p:txBody>
      </p:sp>
      <p:sp>
        <p:nvSpPr>
          <p:cNvPr id="9" name="object 9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spcAft>
                <a:spcPts val="400"/>
              </a:spcAft>
            </a:pPr>
            <a:r>
              <a:rPr sz="2000" b="1">
                <a:solidFill>
                  <a:srgbClr val="CB0912"/>
                </a:solidFill>
                <a:latin typeface="Arial"/>
              </a:rPr>
              <a:t>PROBLEM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E2364"/>
                </a:solidFill>
              </a:rPr>
              <a:t>A small chain over-produces at one shop while a sister shop sells out — waste is money already spent, stockouts are margin left on the floor, and no one can see the imbalance.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6DC201"/>
                </a:solidFill>
                <a:latin typeface="Arial"/>
              </a:rPr>
              <a:t>SOLUTION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E2364"/>
                </a:solidFill>
              </a:rPr>
              <a:t>An AI operations partner that gives each site a daily bake plan grounded in a profit-optimal forecast, suggests shifting planned production between sites, and answers plain-language questions through an agent that can only phrase numbers the recommender core computed.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0097DC"/>
                </a:solidFill>
                <a:latin typeface="Arial"/>
              </a:rPr>
              <a:t>VALIDATION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1E2364"/>
                </a:solidFill>
              </a:rPr>
              <a:t>Built &amp; tested (100+ backend tests, CI green); backtested against real historical Madrid weather + holidays: +€997 profit and 11% less waste vs. the bakery's own baseline. Live at obradoriq.onrender.com.</a:t>
            </a:r>
          </a:p>
        </p:txBody>
      </p:sp>
      <p:grpSp>
        <p:nvGrpSpPr>
          <p:cNvPr id="10" name="object 10"/>
          <p:cNvGrpSpPr/>
          <p:nvPr/>
        </p:nvGrpSpPr>
        <p:grpSpPr>
          <a:xfrm>
            <a:off x="2794365" y="2460211"/>
            <a:ext cx="14641194" cy="7101840"/>
            <a:chOff x="2794365" y="2460211"/>
            <a:chExt cx="14641194" cy="7101840"/>
          </a:xfrm>
        </p:grpSpPr>
        <p:sp>
          <p:nvSpPr>
            <p:cNvPr id="11" name="object 11"/>
            <p:cNvSpPr/>
            <p:nvPr/>
          </p:nvSpPr>
          <p:spPr>
            <a:xfrm>
              <a:off x="2794355" y="3579691"/>
              <a:ext cx="288290" cy="4585970"/>
            </a:xfrm>
            <a:custGeom>
              <a:avLst/>
              <a:gdLst/>
              <a:ahLst/>
              <a:cxnLst/>
              <a:rect l="l" t="t" r="r" b="b"/>
              <a:pathLst>
                <a:path w="288289" h="4585970">
                  <a:moveTo>
                    <a:pt x="287947" y="4441571"/>
                  </a:moveTo>
                  <a:lnTo>
                    <a:pt x="280619" y="4396054"/>
                  </a:lnTo>
                  <a:lnTo>
                    <a:pt x="260172" y="4356532"/>
                  </a:lnTo>
                  <a:lnTo>
                    <a:pt x="229006" y="4325366"/>
                  </a:lnTo>
                  <a:lnTo>
                    <a:pt x="189484" y="4304931"/>
                  </a:lnTo>
                  <a:lnTo>
                    <a:pt x="143979" y="4297591"/>
                  </a:lnTo>
                  <a:lnTo>
                    <a:pt x="98475" y="4304931"/>
                  </a:lnTo>
                  <a:lnTo>
                    <a:pt x="58953" y="4325366"/>
                  </a:lnTo>
                  <a:lnTo>
                    <a:pt x="27787" y="4356532"/>
                  </a:lnTo>
                  <a:lnTo>
                    <a:pt x="7340" y="4396054"/>
                  </a:lnTo>
                  <a:lnTo>
                    <a:pt x="0" y="4441571"/>
                  </a:lnTo>
                  <a:lnTo>
                    <a:pt x="7340" y="4487075"/>
                  </a:lnTo>
                  <a:lnTo>
                    <a:pt x="27787" y="4526597"/>
                  </a:lnTo>
                  <a:lnTo>
                    <a:pt x="58953" y="4557763"/>
                  </a:lnTo>
                  <a:lnTo>
                    <a:pt x="98475" y="4578197"/>
                  </a:lnTo>
                  <a:lnTo>
                    <a:pt x="143979" y="4585538"/>
                  </a:lnTo>
                  <a:lnTo>
                    <a:pt x="189484" y="4578197"/>
                  </a:lnTo>
                  <a:lnTo>
                    <a:pt x="229006" y="4557763"/>
                  </a:lnTo>
                  <a:lnTo>
                    <a:pt x="260172" y="4526597"/>
                  </a:lnTo>
                  <a:lnTo>
                    <a:pt x="280619" y="4487075"/>
                  </a:lnTo>
                  <a:lnTo>
                    <a:pt x="287947" y="4441571"/>
                  </a:lnTo>
                  <a:close/>
                </a:path>
                <a:path w="288289" h="4585970">
                  <a:moveTo>
                    <a:pt x="287947" y="3697884"/>
                  </a:moveTo>
                  <a:lnTo>
                    <a:pt x="280619" y="3652380"/>
                  </a:lnTo>
                  <a:lnTo>
                    <a:pt x="260172" y="3612858"/>
                  </a:lnTo>
                  <a:lnTo>
                    <a:pt x="229006" y="3581692"/>
                  </a:lnTo>
                  <a:lnTo>
                    <a:pt x="189484" y="3561257"/>
                  </a:lnTo>
                  <a:lnTo>
                    <a:pt x="143979" y="3553917"/>
                  </a:lnTo>
                  <a:lnTo>
                    <a:pt x="98475" y="3561257"/>
                  </a:lnTo>
                  <a:lnTo>
                    <a:pt x="58953" y="3581692"/>
                  </a:lnTo>
                  <a:lnTo>
                    <a:pt x="27787" y="3612858"/>
                  </a:lnTo>
                  <a:lnTo>
                    <a:pt x="7340" y="3652380"/>
                  </a:lnTo>
                  <a:lnTo>
                    <a:pt x="0" y="3697884"/>
                  </a:lnTo>
                  <a:lnTo>
                    <a:pt x="7340" y="3743388"/>
                  </a:lnTo>
                  <a:lnTo>
                    <a:pt x="27787" y="3782911"/>
                  </a:lnTo>
                  <a:lnTo>
                    <a:pt x="58953" y="3814076"/>
                  </a:lnTo>
                  <a:lnTo>
                    <a:pt x="98475" y="3834523"/>
                  </a:lnTo>
                  <a:lnTo>
                    <a:pt x="143979" y="3841864"/>
                  </a:lnTo>
                  <a:lnTo>
                    <a:pt x="189484" y="3834523"/>
                  </a:lnTo>
                  <a:lnTo>
                    <a:pt x="229006" y="3814076"/>
                  </a:lnTo>
                  <a:lnTo>
                    <a:pt x="260172" y="3782911"/>
                  </a:lnTo>
                  <a:lnTo>
                    <a:pt x="280619" y="3743388"/>
                  </a:lnTo>
                  <a:lnTo>
                    <a:pt x="287947" y="3697884"/>
                  </a:lnTo>
                  <a:close/>
                </a:path>
                <a:path w="288289" h="4585970">
                  <a:moveTo>
                    <a:pt x="287947" y="2332139"/>
                  </a:moveTo>
                  <a:lnTo>
                    <a:pt x="280619" y="2286635"/>
                  </a:lnTo>
                  <a:lnTo>
                    <a:pt x="260172" y="2247112"/>
                  </a:lnTo>
                  <a:lnTo>
                    <a:pt x="229006" y="2215946"/>
                  </a:lnTo>
                  <a:lnTo>
                    <a:pt x="189484" y="2195512"/>
                  </a:lnTo>
                  <a:lnTo>
                    <a:pt x="143979" y="2188172"/>
                  </a:lnTo>
                  <a:lnTo>
                    <a:pt x="98475" y="2195512"/>
                  </a:lnTo>
                  <a:lnTo>
                    <a:pt x="58953" y="2215946"/>
                  </a:lnTo>
                  <a:lnTo>
                    <a:pt x="27787" y="2247112"/>
                  </a:lnTo>
                  <a:lnTo>
                    <a:pt x="7340" y="2286635"/>
                  </a:lnTo>
                  <a:lnTo>
                    <a:pt x="0" y="2332139"/>
                  </a:lnTo>
                  <a:lnTo>
                    <a:pt x="7340" y="2377643"/>
                  </a:lnTo>
                  <a:lnTo>
                    <a:pt x="27787" y="2417165"/>
                  </a:lnTo>
                  <a:lnTo>
                    <a:pt x="58953" y="2448331"/>
                  </a:lnTo>
                  <a:lnTo>
                    <a:pt x="98475" y="2468778"/>
                  </a:lnTo>
                  <a:lnTo>
                    <a:pt x="143979" y="2476119"/>
                  </a:lnTo>
                  <a:lnTo>
                    <a:pt x="189484" y="2468778"/>
                  </a:lnTo>
                  <a:lnTo>
                    <a:pt x="229006" y="2448331"/>
                  </a:lnTo>
                  <a:lnTo>
                    <a:pt x="260172" y="2417165"/>
                  </a:lnTo>
                  <a:lnTo>
                    <a:pt x="280619" y="2377643"/>
                  </a:lnTo>
                  <a:lnTo>
                    <a:pt x="287947" y="2332139"/>
                  </a:lnTo>
                  <a:close/>
                </a:path>
                <a:path w="288289" h="4585970">
                  <a:moveTo>
                    <a:pt x="287947" y="143967"/>
                  </a:moveTo>
                  <a:lnTo>
                    <a:pt x="280619" y="98463"/>
                  </a:lnTo>
                  <a:lnTo>
                    <a:pt x="260172" y="58940"/>
                  </a:lnTo>
                  <a:lnTo>
                    <a:pt x="229006" y="27774"/>
                  </a:lnTo>
                  <a:lnTo>
                    <a:pt x="189484" y="7340"/>
                  </a:lnTo>
                  <a:lnTo>
                    <a:pt x="143979" y="0"/>
                  </a:lnTo>
                  <a:lnTo>
                    <a:pt x="98475" y="7340"/>
                  </a:lnTo>
                  <a:lnTo>
                    <a:pt x="58953" y="27774"/>
                  </a:lnTo>
                  <a:lnTo>
                    <a:pt x="27787" y="58940"/>
                  </a:lnTo>
                  <a:lnTo>
                    <a:pt x="7340" y="98463"/>
                  </a:lnTo>
                  <a:lnTo>
                    <a:pt x="0" y="143967"/>
                  </a:lnTo>
                  <a:lnTo>
                    <a:pt x="7340" y="189471"/>
                  </a:lnTo>
                  <a:lnTo>
                    <a:pt x="27787" y="228993"/>
                  </a:lnTo>
                  <a:lnTo>
                    <a:pt x="58953" y="260172"/>
                  </a:lnTo>
                  <a:lnTo>
                    <a:pt x="98475" y="280606"/>
                  </a:lnTo>
                  <a:lnTo>
                    <a:pt x="143979" y="287947"/>
                  </a:lnTo>
                  <a:lnTo>
                    <a:pt x="189484" y="280606"/>
                  </a:lnTo>
                  <a:lnTo>
                    <a:pt x="229006" y="260172"/>
                  </a:lnTo>
                  <a:lnTo>
                    <a:pt x="260172" y="228993"/>
                  </a:lnTo>
                  <a:lnTo>
                    <a:pt x="280619" y="189471"/>
                  </a:lnTo>
                  <a:lnTo>
                    <a:pt x="287947" y="143967"/>
                  </a:lnTo>
                  <a:close/>
                </a:path>
              </a:pathLst>
            </a:custGeom>
            <a:solidFill>
              <a:srgbClr val="6DC20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Rounded Rectangle 11"/>
          <p:cNvSpPr/>
          <p:nvPr/>
        </p:nvSpPr>
        <p:spPr>
          <a:xfrm>
            <a:off x="11864916" y="2860211"/>
            <a:ext cx="5570235" cy="1200000"/>
          </a:xfrm>
          <a:prstGeom prst="roundRect">
            <a:avLst/>
          </a:prstGeom>
          <a:solidFill>
            <a:srgbClr val="009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 · INGEST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Daily sales + waste per site (CSV/paste), tagged with weather &amp; holiday.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4450033" y="4140211"/>
            <a:ext cx="400000" cy="22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64916" y="4440211"/>
            <a:ext cx="5570235" cy="1200000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 · PLAN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Newsvendor-optimal bake quantity per product, expressed in € of waste avoided.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4450033" y="5720211"/>
            <a:ext cx="400000" cy="22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64916" y="6020211"/>
            <a:ext cx="5570235" cy="1200000"/>
          </a:xfrm>
          <a:prstGeom prst="roundRect">
            <a:avLst/>
          </a:prstGeom>
          <a:solidFill>
            <a:srgbClr val="6DC2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3 · REALLOCATE</a:t>
            </a:r>
          </a:p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Shift planned production from a chronic over-producer to a sell-out sibling site.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450033" y="7300211"/>
            <a:ext cx="400000" cy="22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64916" y="7600211"/>
            <a:ext cx="5570235" cy="1200000"/>
          </a:xfrm>
          <a:prstGeom prst="roundRect">
            <a:avLst/>
          </a:prstGeom>
          <a:solidFill>
            <a:srgbClr val="F7A8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4 · DECIDE</a:t>
            </a:r>
          </a:p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Owner accepts / edits / rejects — every decision logged.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334203" y="2808081"/>
            <a:ext cx="9218930" cy="13766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5440"/>
              </a:lnSpc>
            </a:pPr>
            <a:r>
              <a:rPr sz="4300" spc="15" dirty="0">
                <a:solidFill>
                  <a:srgbClr val="003687"/>
                </a:solidFill>
              </a:rPr>
              <a:t>ASK OBRADORIQ — THE CONVERSATIONAL AGENT</a:t>
            </a:r>
            <a:endParaRPr sz="4300"/>
          </a:p>
        </p:txBody>
      </p:sp>
      <p:sp>
        <p:nvSpPr>
          <p:cNvPr id="7" name="object 7"/>
          <p:cNvSpPr txBox="1"/>
          <p:nvPr/>
        </p:nvSpPr>
        <p:spPr>
          <a:xfrm>
            <a:off x="2334203" y="4522382"/>
            <a:ext cx="5095875" cy="86741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700" marR="5080">
              <a:lnSpc>
                <a:spcPts val="3210"/>
              </a:lnSpc>
              <a:spcBef>
                <a:spcPts val="375"/>
              </a:spcBef>
            </a:pPr>
            <a:r>
              <a:rPr sz="2850" b="1" spc="-30" dirty="0">
                <a:solidFill>
                  <a:srgbClr val="6DC201"/>
                </a:solidFill>
                <a:latin typeface="Arial"/>
                <a:cs typeface="Arial"/>
              </a:rPr>
              <a:t>What the owner needs from it:</a:t>
            </a:r>
            <a:endParaRPr sz="28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37297" y="5209733"/>
            <a:ext cx="4516120" cy="4025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00" b="1" spc="10" dirty="0">
                <a:solidFill>
                  <a:srgbClr val="0097DC"/>
                </a:solidFill>
                <a:latin typeface="Arial"/>
                <a:cs typeface="Arial"/>
              </a:rPr>
              <a:t>Sample exchange</a:t>
            </a:r>
            <a:endParaRPr sz="2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986986" y="8670465"/>
            <a:ext cx="8518525" cy="779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37080" marR="5080" indent="-2025014">
              <a:lnSpc>
                <a:spcPct val="101000"/>
              </a:lnSpc>
              <a:spcBef>
                <a:spcPts val="95"/>
              </a:spcBef>
            </a:pPr>
            <a:r>
              <a:rPr sz="2450" b="1" spc="90" dirty="0">
                <a:solidFill>
                  <a:srgbClr val="6DC201"/>
                </a:solidFill>
                <a:latin typeface="Arial"/>
                <a:cs typeface="Arial"/>
              </a:rPr>
              <a:t>KEY TASK: ASKING OBRADORIQ A QUESTION</a:t>
            </a:r>
            <a:endParaRPr sz="24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34203" y="8671137"/>
            <a:ext cx="3334385" cy="7270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3800"/>
              </a:lnSpc>
              <a:spcBef>
                <a:spcPts val="15"/>
              </a:spcBef>
            </a:pPr>
            <a:r>
              <a:rPr sz="1500" b="1" spc="20" dirty="0">
                <a:solidFill>
                  <a:srgbClr val="003687"/>
                </a:solidFill>
                <a:latin typeface="Arial"/>
                <a:cs typeface="Arial"/>
              </a:rPr>
              <a:t>Rehearsed live with the class; next: validate with 2-3 real bakery owners.</a:t>
            </a:r>
            <a:endParaRPr sz="22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30908" y="5744414"/>
            <a:ext cx="3297554" cy="2204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2100"/>
              </a:lnSpc>
              <a:spcBef>
                <a:spcPts val="100"/>
              </a:spcBef>
              <a:spcAft>
                <a:spcPts val="1000"/>
              </a:spcAft>
            </a:pPr>
            <a:r>
              <a:rPr sz="1500" b="1">
                <a:solidFill>
                  <a:srgbClr val="1E2364"/>
                </a:solidFill>
                <a:latin typeface="Arial"/>
              </a:rPr>
              <a:t>•  Tomorrow's bake list, in euros — not statistics</a:t>
            </a:r>
            <a:endParaRPr sz="2350">
              <a:latin typeface="Arial"/>
              <a:cs typeface="Arial"/>
            </a:endParaRP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364"/>
                </a:solidFill>
                <a:latin typeface="Arial"/>
              </a:rPr>
              <a:t>•  Plain-language answers to context no model can know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364"/>
                </a:solidFill>
                <a:latin typeface="Arial"/>
              </a:rPr>
              <a:t>•  One-click approve / edit / reject — owner always decides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364"/>
                </a:solidFill>
                <a:latin typeface="Arial"/>
              </a:rPr>
              <a:t>•  Never a fabricated number — every figure is grounded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6852398" y="6115190"/>
            <a:ext cx="3395979" cy="2192655"/>
          </a:xfrm>
          <a:prstGeom prst="rect">
            <a:avLst/>
          </a:prstGeom>
          <a:ln w="8989">
            <a:solidFill>
              <a:srgbClr val="003687"/>
            </a:solidFill>
          </a:ln>
        </p:spPr>
        <p:txBody>
          <a:bodyPr vert="horz" wrap="square" lIns="0" tIns="196850" rIns="0" bIns="0" rtlCol="0">
            <a:spAutoFit/>
          </a:bodyPr>
          <a:lstStyle/>
          <a:p>
            <a:pPr marL="979805">
              <a:lnSpc>
                <a:spcPct val="100000"/>
              </a:lnSpc>
              <a:spcBef>
                <a:spcPts val="1550"/>
              </a:spcBef>
              <a:spcAft>
                <a:spcPts val="800"/>
              </a:spcAft>
            </a:pPr>
            <a:r>
              <a:rPr sz="1600" b="1">
                <a:solidFill>
                  <a:srgbClr val="1E2364"/>
                </a:solidFill>
              </a:rPr>
              <a:t>1. Owner asks a question in plain language.</a:t>
            </a:r>
            <a:endParaRPr sz="2550">
              <a:latin typeface="Arial"/>
              <a:cs typeface="Arial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2364"/>
                </a:solidFill>
              </a:rPr>
              <a:t>2. Agent calls the forecast + newsvendor models as tools.</a:t>
            </a:r>
          </a:p>
          <a:p>
            <a:r>
              <a:rPr sz="1600" b="1">
                <a:solidFill>
                  <a:srgbClr val="1E2364"/>
                </a:solidFill>
              </a:rPr>
              <a:t>3. Trust Layer grounds the reply — rejected if a number doesn't match the math.</a:t>
            </a:r>
          </a:p>
        </p:txBody>
      </p:sp>
      <p:graphicFrame>
        <p:nvGraphicFramePr>
          <p:cNvPr id="13" name="object 13"/>
          <p:cNvGraphicFramePr>
            <a:graphicFrameLocks noGrp="1"/>
          </p:cNvGraphicFramePr>
          <p:nvPr/>
        </p:nvGraphicFramePr>
        <p:xfrm>
          <a:off x="10605067" y="6110696"/>
          <a:ext cx="7165974" cy="22529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5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8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8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57386">
                <a:tc gridSpan="2">
                  <a:txBody>
                    <a:bodyPr/>
                    <a:lstStyle/>
                    <a:p>
                      <a:pPr marL="975994">
                        <a:lnSpc>
                          <a:spcPct val="100000"/>
                        </a:lnSpc>
                        <a:spcBef>
                          <a:spcPts val="1550"/>
                        </a:spcBef>
                      </a:pPr>
                      <a:r>
                        <a:rPr sz="1800" b="1">
                          <a:solidFill>
                            <a:srgbClr val="0097DC"/>
                          </a:solidFill>
                          <a:latin typeface="Arial"/>
                        </a:rPr>
                        <a:t>INPUT</a:t>
                      </a:r>
                      <a:endParaRPr sz="2550">
                        <a:latin typeface="Arial"/>
                        <a:cs typeface="Arial"/>
                      </a:endParaRPr>
                    </a:p>
                  </a:txBody>
                  <a:tcPr marL="0" marR="0" marT="196850" marB="0">
                    <a:lnL w="9525">
                      <a:solidFill>
                        <a:srgbClr val="003687"/>
                      </a:solidFill>
                      <a:prstDash val="solid"/>
                    </a:lnL>
                    <a:lnR w="9525">
                      <a:solidFill>
                        <a:srgbClr val="003687"/>
                      </a:solidFill>
                      <a:prstDash val="solid"/>
                    </a:lnR>
                    <a:lnT w="9525">
                      <a:solidFill>
                        <a:srgbClr val="003687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3687"/>
                      </a:solidFill>
                      <a:prstDash val="solid"/>
                    </a:lnL>
                    <a:lnR w="9525">
                      <a:solidFill>
                        <a:srgbClr val="003687"/>
                      </a:solidFill>
                      <a:prstDash val="solid"/>
                    </a:lnR>
                    <a:lnB w="76200">
                      <a:solidFill>
                        <a:srgbClr val="6DC20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3687"/>
                      </a:solidFill>
                      <a:prstDash val="solid"/>
                    </a:lnL>
                    <a:lnT w="9525">
                      <a:solidFill>
                        <a:srgbClr val="003687"/>
                      </a:solidFill>
                      <a:prstDash val="solid"/>
                    </a:lnT>
                    <a:lnB w="76200">
                      <a:solidFill>
                        <a:srgbClr val="6DC201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 marL="748665">
                        <a:lnSpc>
                          <a:spcPct val="100000"/>
                        </a:lnSpc>
                        <a:spcBef>
                          <a:spcPts val="1550"/>
                        </a:spcBef>
                      </a:pPr>
                      <a:r>
                        <a:rPr sz="1800" b="1">
                          <a:solidFill>
                            <a:srgbClr val="0097DC"/>
                          </a:solidFill>
                          <a:latin typeface="Arial"/>
                        </a:rPr>
                        <a:t>OUTPUT</a:t>
                      </a:r>
                      <a:endParaRPr sz="2550">
                        <a:latin typeface="Arial"/>
                        <a:cs typeface="Arial"/>
                      </a:endParaRPr>
                    </a:p>
                  </a:txBody>
                  <a:tcPr marL="0" marR="0" marT="196850" marB="0">
                    <a:lnR w="9525">
                      <a:solidFill>
                        <a:srgbClr val="003687"/>
                      </a:solidFill>
                      <a:prstDash val="solid"/>
                    </a:lnR>
                    <a:lnT w="9525">
                      <a:solidFill>
                        <a:srgbClr val="003687"/>
                      </a:solidFill>
                      <a:prstDash val="solid"/>
                    </a:lnT>
                    <a:lnB w="9525">
                      <a:solidFill>
                        <a:srgbClr val="00368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475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E2364"/>
                          </a:solidFill>
                          <a:latin typeface="Arial"/>
                        </a:rPr>
                        <a:t>"We have a street festival Saturday"</a:t>
                      </a: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3687"/>
                      </a:solidFill>
                      <a:prstDash val="solid"/>
                    </a:lnL>
                    <a:lnB w="9525">
                      <a:solidFill>
                        <a:srgbClr val="00368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003687"/>
                      </a:solidFill>
                      <a:prstDash val="solid"/>
                    </a:lnR>
                    <a:lnT w="76200">
                      <a:solidFill>
                        <a:srgbClr val="6DC201"/>
                      </a:solidFill>
                      <a:prstDash val="solid"/>
                    </a:lnT>
                    <a:lnB w="9525">
                      <a:solidFill>
                        <a:srgbClr val="00368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3687"/>
                      </a:solidFill>
                      <a:prstDash val="solid"/>
                    </a:lnL>
                    <a:lnR w="9525">
                      <a:solidFill>
                        <a:srgbClr val="003687"/>
                      </a:solidFill>
                      <a:prstDash val="solid"/>
                    </a:lnR>
                    <a:lnT w="76200">
                      <a:solidFill>
                        <a:srgbClr val="6DC201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3687"/>
                      </a:solidFill>
                      <a:prstDash val="solid"/>
                    </a:lnL>
                    <a:lnT w="76200">
                      <a:solidFill>
                        <a:srgbClr val="6DC201"/>
                      </a:solidFill>
                      <a:prstDash val="solid"/>
                    </a:lnT>
                    <a:lnB w="9525">
                      <a:solidFill>
                        <a:srgbClr val="003687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364"/>
                          </a:solidFill>
                          <a:latin typeface="Arial"/>
                        </a:rPr>
                        <a:t>Attributed demand_adjustment_pct + grounded bake numbers</a:t>
                      </a:r>
                      <a:endParaRPr/>
                    </a:p>
                  </a:txBody>
                  <a:tcPr marL="0" marR="0" marT="196850" marB="0">
                    <a:lnR w="9525">
                      <a:solidFill>
                        <a:srgbClr val="003687"/>
                      </a:solidFill>
                      <a:prstDash val="solid"/>
                    </a:lnR>
                    <a:lnT w="9525">
                      <a:solidFill>
                        <a:srgbClr val="003687"/>
                      </a:solidFill>
                      <a:prstDash val="solid"/>
                    </a:lnT>
                    <a:lnB w="9525">
                      <a:solidFill>
                        <a:srgbClr val="00368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6" name="object 16"/>
          <p:cNvGrpSpPr/>
          <p:nvPr/>
        </p:nvGrpSpPr>
        <p:grpSpPr>
          <a:xfrm>
            <a:off x="2462019" y="2534420"/>
            <a:ext cx="15046325" cy="5388610"/>
            <a:chOff x="2462019" y="2534420"/>
            <a:chExt cx="15046325" cy="5388610"/>
          </a:xfrm>
        </p:grpSpPr>
        <p:sp>
          <p:nvSpPr>
            <p:cNvPr id="18" name="object 18"/>
            <p:cNvSpPr/>
            <p:nvPr/>
          </p:nvSpPr>
          <p:spPr>
            <a:xfrm>
              <a:off x="2472490" y="6030182"/>
              <a:ext cx="236220" cy="235585"/>
            </a:xfrm>
            <a:custGeom>
              <a:avLst/>
              <a:gdLst/>
              <a:ahLst/>
              <a:cxnLst/>
              <a:rect l="l" t="t" r="r" b="b"/>
              <a:pathLst>
                <a:path w="236219" h="235585">
                  <a:moveTo>
                    <a:pt x="117797" y="235580"/>
                  </a:moveTo>
                  <a:lnTo>
                    <a:pt x="163648" y="226323"/>
                  </a:lnTo>
                  <a:lnTo>
                    <a:pt x="201092" y="201079"/>
                  </a:lnTo>
                  <a:lnTo>
                    <a:pt x="226337" y="163638"/>
                  </a:lnTo>
                  <a:lnTo>
                    <a:pt x="235594" y="117790"/>
                  </a:lnTo>
                  <a:lnTo>
                    <a:pt x="226337" y="71941"/>
                  </a:lnTo>
                  <a:lnTo>
                    <a:pt x="201092" y="34500"/>
                  </a:lnTo>
                  <a:lnTo>
                    <a:pt x="163648" y="9256"/>
                  </a:lnTo>
                  <a:lnTo>
                    <a:pt x="117797" y="0"/>
                  </a:lnTo>
                  <a:lnTo>
                    <a:pt x="71946" y="9256"/>
                  </a:lnTo>
                  <a:lnTo>
                    <a:pt x="34502" y="34500"/>
                  </a:lnTo>
                  <a:lnTo>
                    <a:pt x="9257" y="71941"/>
                  </a:lnTo>
                  <a:lnTo>
                    <a:pt x="0" y="117790"/>
                  </a:lnTo>
                  <a:lnTo>
                    <a:pt x="9257" y="163638"/>
                  </a:lnTo>
                  <a:lnTo>
                    <a:pt x="34502" y="201079"/>
                  </a:lnTo>
                  <a:lnTo>
                    <a:pt x="71946" y="226323"/>
                  </a:lnTo>
                  <a:lnTo>
                    <a:pt x="117797" y="235580"/>
                  </a:lnTo>
                  <a:close/>
                </a:path>
              </a:pathLst>
            </a:custGeom>
            <a:ln w="20941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472490" y="6595050"/>
              <a:ext cx="236220" cy="236220"/>
            </a:xfrm>
            <a:custGeom>
              <a:avLst/>
              <a:gdLst/>
              <a:ahLst/>
              <a:cxnLst/>
              <a:rect l="l" t="t" r="r" b="b"/>
              <a:pathLst>
                <a:path w="236219" h="236220">
                  <a:moveTo>
                    <a:pt x="117797" y="235594"/>
                  </a:moveTo>
                  <a:lnTo>
                    <a:pt x="163648" y="226337"/>
                  </a:lnTo>
                  <a:lnTo>
                    <a:pt x="201092" y="201092"/>
                  </a:lnTo>
                  <a:lnTo>
                    <a:pt x="226337" y="163648"/>
                  </a:lnTo>
                  <a:lnTo>
                    <a:pt x="235594" y="117797"/>
                  </a:lnTo>
                  <a:lnTo>
                    <a:pt x="226337" y="71946"/>
                  </a:lnTo>
                  <a:lnTo>
                    <a:pt x="201092" y="34502"/>
                  </a:lnTo>
                  <a:lnTo>
                    <a:pt x="163648" y="9257"/>
                  </a:lnTo>
                  <a:lnTo>
                    <a:pt x="117797" y="0"/>
                  </a:lnTo>
                  <a:lnTo>
                    <a:pt x="71946" y="9257"/>
                  </a:lnTo>
                  <a:lnTo>
                    <a:pt x="34502" y="34502"/>
                  </a:lnTo>
                  <a:lnTo>
                    <a:pt x="9257" y="71946"/>
                  </a:lnTo>
                  <a:lnTo>
                    <a:pt x="0" y="117797"/>
                  </a:lnTo>
                  <a:lnTo>
                    <a:pt x="9257" y="163648"/>
                  </a:lnTo>
                  <a:lnTo>
                    <a:pt x="34502" y="201092"/>
                  </a:lnTo>
                  <a:lnTo>
                    <a:pt x="71946" y="226337"/>
                  </a:lnTo>
                  <a:lnTo>
                    <a:pt x="117797" y="235594"/>
                  </a:lnTo>
                  <a:close/>
                </a:path>
              </a:pathLst>
            </a:custGeom>
            <a:ln w="20941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472490" y="7113359"/>
              <a:ext cx="236220" cy="236220"/>
            </a:xfrm>
            <a:custGeom>
              <a:avLst/>
              <a:gdLst/>
              <a:ahLst/>
              <a:cxnLst/>
              <a:rect l="l" t="t" r="r" b="b"/>
              <a:pathLst>
                <a:path w="236219" h="236220">
                  <a:moveTo>
                    <a:pt x="117797" y="235594"/>
                  </a:moveTo>
                  <a:lnTo>
                    <a:pt x="163648" y="226337"/>
                  </a:lnTo>
                  <a:lnTo>
                    <a:pt x="201092" y="201092"/>
                  </a:lnTo>
                  <a:lnTo>
                    <a:pt x="226337" y="163648"/>
                  </a:lnTo>
                  <a:lnTo>
                    <a:pt x="235594" y="117797"/>
                  </a:lnTo>
                  <a:lnTo>
                    <a:pt x="226337" y="71946"/>
                  </a:lnTo>
                  <a:lnTo>
                    <a:pt x="201092" y="34502"/>
                  </a:lnTo>
                  <a:lnTo>
                    <a:pt x="163648" y="9257"/>
                  </a:lnTo>
                  <a:lnTo>
                    <a:pt x="117797" y="0"/>
                  </a:lnTo>
                  <a:lnTo>
                    <a:pt x="71946" y="9257"/>
                  </a:lnTo>
                  <a:lnTo>
                    <a:pt x="34502" y="34502"/>
                  </a:lnTo>
                  <a:lnTo>
                    <a:pt x="9257" y="71946"/>
                  </a:lnTo>
                  <a:lnTo>
                    <a:pt x="0" y="117797"/>
                  </a:lnTo>
                  <a:lnTo>
                    <a:pt x="9257" y="163648"/>
                  </a:lnTo>
                  <a:lnTo>
                    <a:pt x="34502" y="201092"/>
                  </a:lnTo>
                  <a:lnTo>
                    <a:pt x="71946" y="226337"/>
                  </a:lnTo>
                  <a:lnTo>
                    <a:pt x="117797" y="235594"/>
                  </a:lnTo>
                  <a:close/>
                </a:path>
              </a:pathLst>
            </a:custGeom>
            <a:ln w="20941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472490" y="7657845"/>
              <a:ext cx="236220" cy="236220"/>
            </a:xfrm>
            <a:custGeom>
              <a:avLst/>
              <a:gdLst/>
              <a:ahLst/>
              <a:cxnLst/>
              <a:rect l="l" t="t" r="r" b="b"/>
              <a:pathLst>
                <a:path w="236219" h="236220">
                  <a:moveTo>
                    <a:pt x="117797" y="235594"/>
                  </a:moveTo>
                  <a:lnTo>
                    <a:pt x="163648" y="226337"/>
                  </a:lnTo>
                  <a:lnTo>
                    <a:pt x="201092" y="201092"/>
                  </a:lnTo>
                  <a:lnTo>
                    <a:pt x="226337" y="163648"/>
                  </a:lnTo>
                  <a:lnTo>
                    <a:pt x="235594" y="117797"/>
                  </a:lnTo>
                  <a:lnTo>
                    <a:pt x="226337" y="71946"/>
                  </a:lnTo>
                  <a:lnTo>
                    <a:pt x="201092" y="34502"/>
                  </a:lnTo>
                  <a:lnTo>
                    <a:pt x="163648" y="9257"/>
                  </a:lnTo>
                  <a:lnTo>
                    <a:pt x="117797" y="0"/>
                  </a:lnTo>
                  <a:lnTo>
                    <a:pt x="71946" y="9257"/>
                  </a:lnTo>
                  <a:lnTo>
                    <a:pt x="34502" y="34502"/>
                  </a:lnTo>
                  <a:lnTo>
                    <a:pt x="9257" y="71946"/>
                  </a:lnTo>
                  <a:lnTo>
                    <a:pt x="0" y="117797"/>
                  </a:lnTo>
                  <a:lnTo>
                    <a:pt x="9257" y="163648"/>
                  </a:lnTo>
                  <a:lnTo>
                    <a:pt x="34502" y="201092"/>
                  </a:lnTo>
                  <a:lnTo>
                    <a:pt x="71946" y="226337"/>
                  </a:lnTo>
                  <a:lnTo>
                    <a:pt x="117797" y="235594"/>
                  </a:lnTo>
                  <a:close/>
                </a:path>
              </a:pathLst>
            </a:custGeom>
            <a:ln w="20941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78370" y="7271386"/>
              <a:ext cx="2951480" cy="651510"/>
            </a:xfrm>
            <a:custGeom>
              <a:avLst/>
              <a:gdLst/>
              <a:ahLst/>
              <a:cxnLst/>
              <a:rect l="l" t="t" r="r" b="b"/>
              <a:pathLst>
                <a:path w="2951479" h="651509">
                  <a:moveTo>
                    <a:pt x="2951166" y="0"/>
                  </a:moveTo>
                  <a:lnTo>
                    <a:pt x="0" y="0"/>
                  </a:lnTo>
                  <a:lnTo>
                    <a:pt x="0" y="651053"/>
                  </a:lnTo>
                  <a:lnTo>
                    <a:pt x="2951166" y="651053"/>
                  </a:lnTo>
                  <a:lnTo>
                    <a:pt x="2951166" y="0"/>
                  </a:lnTo>
                  <a:close/>
                </a:path>
              </a:pathLst>
            </a:custGeom>
            <a:solidFill>
              <a:srgbClr val="D3E8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Rounded Rectangle 22"/>
          <p:cNvSpPr/>
          <p:nvPr/>
        </p:nvSpPr>
        <p:spPr>
          <a:xfrm>
            <a:off x="13398409" y="2534420"/>
            <a:ext cx="4109818" cy="950000"/>
          </a:xfrm>
          <a:prstGeom prst="roundRect">
            <a:avLst/>
          </a:prstGeom>
          <a:solidFill>
            <a:srgbClr val="009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"We have a street festival on Saturday."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98409" y="3614420"/>
            <a:ext cx="4109818" cy="1474119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I'll bump Saturday's forecast +18% for that line — flagged as an explicit adjustment, not a guess.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813316" y="2885248"/>
            <a:ext cx="11203940" cy="1175385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sz="4300" spc="-55" dirty="0">
                <a:solidFill>
                  <a:srgbClr val="003687"/>
                </a:solidFill>
              </a:rPr>
              <a:t>TECHNICAL</a:t>
            </a:r>
            <a:r>
              <a:rPr sz="4300" spc="-180" dirty="0">
                <a:solidFill>
                  <a:srgbClr val="003687"/>
                </a:solidFill>
              </a:rPr>
              <a:t> </a:t>
            </a:r>
            <a:r>
              <a:rPr sz="4300" spc="-20" dirty="0">
                <a:solidFill>
                  <a:srgbClr val="003687"/>
                </a:solidFill>
              </a:rPr>
              <a:t>COMPONENTS</a:t>
            </a:r>
            <a:r>
              <a:rPr sz="4300" spc="-175" dirty="0">
                <a:solidFill>
                  <a:srgbClr val="003687"/>
                </a:solidFill>
              </a:rPr>
              <a:t> </a:t>
            </a:r>
            <a:r>
              <a:rPr sz="4300" spc="-65" dirty="0">
                <a:solidFill>
                  <a:srgbClr val="003687"/>
                </a:solidFill>
              </a:rPr>
              <a:t>OF</a:t>
            </a:r>
            <a:r>
              <a:rPr sz="4300" spc="-175" dirty="0">
                <a:solidFill>
                  <a:srgbClr val="003687"/>
                </a:solidFill>
              </a:rPr>
              <a:t> </a:t>
            </a:r>
            <a:r>
              <a:rPr sz="4300" spc="-75" dirty="0">
                <a:solidFill>
                  <a:srgbClr val="003687"/>
                </a:solidFill>
              </a:rPr>
              <a:t>PROJECT</a:t>
            </a:r>
            <a:endParaRPr sz="4300"/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850" spc="-110" dirty="0">
                <a:solidFill>
                  <a:srgbClr val="6DC201"/>
                </a:solidFill>
              </a:rPr>
              <a:t>Top</a:t>
            </a:r>
            <a:r>
              <a:rPr sz="2850" spc="-5" dirty="0">
                <a:solidFill>
                  <a:srgbClr val="6DC201"/>
                </a:solidFill>
              </a:rPr>
              <a:t> </a:t>
            </a:r>
            <a:r>
              <a:rPr sz="2850" dirty="0">
                <a:solidFill>
                  <a:srgbClr val="6DC201"/>
                </a:solidFill>
              </a:rPr>
              <a:t>Components</a:t>
            </a:r>
            <a:r>
              <a:rPr sz="2850" spc="-5" dirty="0">
                <a:solidFill>
                  <a:srgbClr val="6DC201"/>
                </a:solidFill>
              </a:rPr>
              <a:t> </a:t>
            </a:r>
            <a:r>
              <a:rPr sz="2850" spc="-15" dirty="0">
                <a:solidFill>
                  <a:srgbClr val="6DC201"/>
                </a:solidFill>
              </a:rPr>
              <a:t>Required</a:t>
            </a:r>
            <a:r>
              <a:rPr sz="2850" dirty="0">
                <a:solidFill>
                  <a:srgbClr val="6DC201"/>
                </a:solidFill>
              </a:rPr>
              <a:t> </a:t>
            </a:r>
            <a:r>
              <a:rPr sz="2850" spc="-5" dirty="0">
                <a:solidFill>
                  <a:srgbClr val="6DC201"/>
                </a:solidFill>
              </a:rPr>
              <a:t>for </a:t>
            </a:r>
            <a:r>
              <a:rPr sz="2850" spc="15" dirty="0">
                <a:solidFill>
                  <a:srgbClr val="6DC201"/>
                </a:solidFill>
              </a:rPr>
              <a:t>the</a:t>
            </a:r>
            <a:r>
              <a:rPr sz="2850" spc="-5" dirty="0">
                <a:solidFill>
                  <a:srgbClr val="6DC201"/>
                </a:solidFill>
              </a:rPr>
              <a:t> </a:t>
            </a:r>
            <a:r>
              <a:rPr sz="2850" spc="10" dirty="0">
                <a:solidFill>
                  <a:srgbClr val="6DC201"/>
                </a:solidFill>
              </a:rPr>
              <a:t>Project</a:t>
            </a:r>
            <a:r>
              <a:rPr sz="2850" dirty="0">
                <a:solidFill>
                  <a:srgbClr val="6DC201"/>
                </a:solidFill>
              </a:rPr>
              <a:t> </a:t>
            </a:r>
            <a:r>
              <a:rPr sz="2850" spc="-60" dirty="0">
                <a:solidFill>
                  <a:srgbClr val="6DC201"/>
                </a:solidFill>
              </a:rPr>
              <a:t>in</a:t>
            </a:r>
            <a:r>
              <a:rPr sz="2850" spc="-5" dirty="0">
                <a:solidFill>
                  <a:srgbClr val="6DC201"/>
                </a:solidFill>
              </a:rPr>
              <a:t> Order of</a:t>
            </a:r>
            <a:r>
              <a:rPr sz="2850" dirty="0">
                <a:solidFill>
                  <a:srgbClr val="6DC201"/>
                </a:solidFill>
              </a:rPr>
              <a:t> </a:t>
            </a:r>
            <a:r>
              <a:rPr sz="2850" spc="20" dirty="0">
                <a:solidFill>
                  <a:srgbClr val="6DC201"/>
                </a:solidFill>
              </a:rPr>
              <a:t>Importance</a:t>
            </a:r>
            <a:endParaRPr sz="2850"/>
          </a:p>
        </p:txBody>
      </p:sp>
      <p:sp>
        <p:nvSpPr>
          <p:cNvPr id="7" name="object 7"/>
          <p:cNvSpPr txBox="1"/>
          <p:nvPr/>
        </p:nvSpPr>
        <p:spPr>
          <a:xfrm>
            <a:off x="3507808" y="4301258"/>
            <a:ext cx="9545955" cy="4798695"/>
          </a:xfrm>
          <a:prstGeom prst="rect">
            <a:avLst/>
          </a:prstGeom>
        </p:spPr>
        <p:txBody>
          <a:bodyPr vert="horz" wrap="square" lIns="0" tIns="2457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35"/>
              </a:spcBef>
              <a:spcAft>
                <a:spcPts val="800"/>
              </a:spcAft>
            </a:pPr>
            <a:r>
              <a:rPr sz="2200" b="1">
                <a:solidFill>
                  <a:srgbClr val="003687"/>
                </a:solidFill>
                <a:latin typeface="Arial"/>
              </a:rPr>
              <a:t>React dashboard (built static, served by FastAPI)</a:t>
            </a:r>
            <a:endParaRPr sz="2850">
              <a:latin typeface="Arial"/>
              <a:cs typeface="Arial"/>
            </a:endParaRP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6DC201"/>
                </a:solidFill>
                <a:latin typeface="Arial"/>
              </a:rPr>
              <a:t>Recommender core — weather/holiday-aware forecast + newsvendor optimizer (the IP)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6DC201"/>
                </a:solidFill>
                <a:latin typeface="Arial"/>
              </a:rPr>
              <a:t>Cross-site reallocation engine — the differentiator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6DC201"/>
                </a:solidFill>
                <a:latin typeface="Arial"/>
              </a:rPr>
              <a:t>Trust Layer — masks, grounds, scores &amp; audits every LLM output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F7A839"/>
                </a:solidFill>
                <a:latin typeface="Arial"/>
              </a:rPr>
              <a:t>LLM agent — tool-calling planner, Opus/Sonnet routing, offline fallback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6DC201"/>
                </a:solidFill>
                <a:latin typeface="Arial"/>
              </a:rPr>
              <a:t>PostgreSQL + Docker + Render deploy + GitHub CI</a:t>
            </a:r>
          </a:p>
          <a:p>
            <a:pPr>
              <a:spcAft>
                <a:spcPts val="0"/>
              </a:spcAft>
            </a:pPr>
            <a:r>
              <a:rPr sz="2200" b="1">
                <a:solidFill>
                  <a:srgbClr val="CB0912"/>
                </a:solidFill>
                <a:latin typeface="Arial"/>
              </a:rPr>
              <a:t>Real POS ingestion / real bakery data — open dependency, next milestone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2929432" y="4636239"/>
            <a:ext cx="314960" cy="4382135"/>
            <a:chOff x="2929432" y="4636239"/>
            <a:chExt cx="314960" cy="4382135"/>
          </a:xfrm>
        </p:grpSpPr>
        <p:sp>
          <p:nvSpPr>
            <p:cNvPr id="9" name="object 9"/>
            <p:cNvSpPr/>
            <p:nvPr/>
          </p:nvSpPr>
          <p:spPr>
            <a:xfrm>
              <a:off x="2956331" y="8032286"/>
              <a:ext cx="288290" cy="986155"/>
            </a:xfrm>
            <a:custGeom>
              <a:avLst/>
              <a:gdLst/>
              <a:ahLst/>
              <a:cxnLst/>
              <a:rect l="l" t="t" r="r" b="b"/>
              <a:pathLst>
                <a:path w="288289" h="986154">
                  <a:moveTo>
                    <a:pt x="287947" y="842098"/>
                  </a:moveTo>
                  <a:lnTo>
                    <a:pt x="280606" y="796594"/>
                  </a:lnTo>
                  <a:lnTo>
                    <a:pt x="260172" y="757072"/>
                  </a:lnTo>
                  <a:lnTo>
                    <a:pt x="229006" y="725906"/>
                  </a:lnTo>
                  <a:lnTo>
                    <a:pt x="189484" y="705472"/>
                  </a:lnTo>
                  <a:lnTo>
                    <a:pt x="143979" y="698131"/>
                  </a:lnTo>
                  <a:lnTo>
                    <a:pt x="98475" y="705472"/>
                  </a:lnTo>
                  <a:lnTo>
                    <a:pt x="58953" y="725906"/>
                  </a:lnTo>
                  <a:lnTo>
                    <a:pt x="27774" y="757072"/>
                  </a:lnTo>
                  <a:lnTo>
                    <a:pt x="7340" y="796594"/>
                  </a:lnTo>
                  <a:lnTo>
                    <a:pt x="0" y="842098"/>
                  </a:lnTo>
                  <a:lnTo>
                    <a:pt x="7340" y="887603"/>
                  </a:lnTo>
                  <a:lnTo>
                    <a:pt x="27774" y="927125"/>
                  </a:lnTo>
                  <a:lnTo>
                    <a:pt x="58953" y="958291"/>
                  </a:lnTo>
                  <a:lnTo>
                    <a:pt x="98475" y="978738"/>
                  </a:lnTo>
                  <a:lnTo>
                    <a:pt x="143979" y="986078"/>
                  </a:lnTo>
                  <a:lnTo>
                    <a:pt x="189484" y="978738"/>
                  </a:lnTo>
                  <a:lnTo>
                    <a:pt x="229006" y="958291"/>
                  </a:lnTo>
                  <a:lnTo>
                    <a:pt x="260172" y="927125"/>
                  </a:lnTo>
                  <a:lnTo>
                    <a:pt x="280606" y="887603"/>
                  </a:lnTo>
                  <a:lnTo>
                    <a:pt x="287947" y="842098"/>
                  </a:lnTo>
                  <a:close/>
                </a:path>
                <a:path w="288289" h="986154">
                  <a:moveTo>
                    <a:pt x="287947" y="143979"/>
                  </a:moveTo>
                  <a:lnTo>
                    <a:pt x="280606" y="98475"/>
                  </a:lnTo>
                  <a:lnTo>
                    <a:pt x="260172" y="58953"/>
                  </a:lnTo>
                  <a:lnTo>
                    <a:pt x="229006" y="27787"/>
                  </a:lnTo>
                  <a:lnTo>
                    <a:pt x="189484" y="7340"/>
                  </a:lnTo>
                  <a:lnTo>
                    <a:pt x="143979" y="0"/>
                  </a:lnTo>
                  <a:lnTo>
                    <a:pt x="98475" y="7340"/>
                  </a:lnTo>
                  <a:lnTo>
                    <a:pt x="58953" y="27787"/>
                  </a:lnTo>
                  <a:lnTo>
                    <a:pt x="27774" y="58953"/>
                  </a:lnTo>
                  <a:lnTo>
                    <a:pt x="7340" y="98475"/>
                  </a:lnTo>
                  <a:lnTo>
                    <a:pt x="0" y="143979"/>
                  </a:lnTo>
                  <a:lnTo>
                    <a:pt x="7340" y="189484"/>
                  </a:lnTo>
                  <a:lnTo>
                    <a:pt x="27774" y="229006"/>
                  </a:lnTo>
                  <a:lnTo>
                    <a:pt x="58953" y="260172"/>
                  </a:lnTo>
                  <a:lnTo>
                    <a:pt x="98475" y="280606"/>
                  </a:lnTo>
                  <a:lnTo>
                    <a:pt x="143979" y="287947"/>
                  </a:lnTo>
                  <a:lnTo>
                    <a:pt x="189484" y="280606"/>
                  </a:lnTo>
                  <a:lnTo>
                    <a:pt x="229006" y="260172"/>
                  </a:lnTo>
                  <a:lnTo>
                    <a:pt x="260172" y="229006"/>
                  </a:lnTo>
                  <a:lnTo>
                    <a:pt x="280606" y="189484"/>
                  </a:lnTo>
                  <a:lnTo>
                    <a:pt x="287947" y="143979"/>
                  </a:lnTo>
                  <a:close/>
                </a:path>
              </a:pathLst>
            </a:custGeom>
            <a:solidFill>
              <a:srgbClr val="6DC20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42282" y="4649089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144576" y="289152"/>
                  </a:moveTo>
                  <a:lnTo>
                    <a:pt x="190275" y="281782"/>
                  </a:lnTo>
                  <a:lnTo>
                    <a:pt x="229962" y="261258"/>
                  </a:lnTo>
                  <a:lnTo>
                    <a:pt x="261258" y="229962"/>
                  </a:lnTo>
                  <a:lnTo>
                    <a:pt x="281782" y="190274"/>
                  </a:lnTo>
                  <a:lnTo>
                    <a:pt x="289152" y="144576"/>
                  </a:lnTo>
                  <a:lnTo>
                    <a:pt x="281782" y="98881"/>
                  </a:lnTo>
                  <a:lnTo>
                    <a:pt x="261258" y="59194"/>
                  </a:lnTo>
                  <a:lnTo>
                    <a:pt x="229962" y="27896"/>
                  </a:lnTo>
                  <a:lnTo>
                    <a:pt x="190275" y="7371"/>
                  </a:lnTo>
                  <a:lnTo>
                    <a:pt x="144576" y="0"/>
                  </a:lnTo>
                  <a:lnTo>
                    <a:pt x="98879" y="7371"/>
                  </a:lnTo>
                  <a:lnTo>
                    <a:pt x="59192" y="27896"/>
                  </a:lnTo>
                  <a:lnTo>
                    <a:pt x="27895" y="59194"/>
                  </a:lnTo>
                  <a:lnTo>
                    <a:pt x="7370" y="98881"/>
                  </a:lnTo>
                  <a:lnTo>
                    <a:pt x="0" y="144576"/>
                  </a:lnTo>
                  <a:lnTo>
                    <a:pt x="7370" y="190274"/>
                  </a:lnTo>
                  <a:lnTo>
                    <a:pt x="27895" y="229962"/>
                  </a:lnTo>
                  <a:lnTo>
                    <a:pt x="59192" y="261258"/>
                  </a:lnTo>
                  <a:lnTo>
                    <a:pt x="98879" y="281782"/>
                  </a:lnTo>
                  <a:lnTo>
                    <a:pt x="144576" y="289152"/>
                  </a:lnTo>
                  <a:close/>
                </a:path>
              </a:pathLst>
            </a:custGeom>
            <a:ln w="25700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942282" y="5342366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144576" y="289153"/>
                  </a:moveTo>
                  <a:lnTo>
                    <a:pt x="190275" y="281782"/>
                  </a:lnTo>
                  <a:lnTo>
                    <a:pt x="229962" y="261259"/>
                  </a:lnTo>
                  <a:lnTo>
                    <a:pt x="261258" y="229963"/>
                  </a:lnTo>
                  <a:lnTo>
                    <a:pt x="281782" y="190275"/>
                  </a:lnTo>
                  <a:lnTo>
                    <a:pt x="289152" y="144576"/>
                  </a:lnTo>
                  <a:lnTo>
                    <a:pt x="281782" y="98881"/>
                  </a:lnTo>
                  <a:lnTo>
                    <a:pt x="261258" y="59194"/>
                  </a:lnTo>
                  <a:lnTo>
                    <a:pt x="229962" y="27896"/>
                  </a:lnTo>
                  <a:lnTo>
                    <a:pt x="190275" y="7371"/>
                  </a:lnTo>
                  <a:lnTo>
                    <a:pt x="144576" y="0"/>
                  </a:lnTo>
                  <a:lnTo>
                    <a:pt x="98879" y="7371"/>
                  </a:lnTo>
                  <a:lnTo>
                    <a:pt x="59192" y="27896"/>
                  </a:lnTo>
                  <a:lnTo>
                    <a:pt x="27895" y="59194"/>
                  </a:lnTo>
                  <a:lnTo>
                    <a:pt x="7370" y="98881"/>
                  </a:lnTo>
                  <a:lnTo>
                    <a:pt x="0" y="144576"/>
                  </a:lnTo>
                  <a:lnTo>
                    <a:pt x="7370" y="190275"/>
                  </a:lnTo>
                  <a:lnTo>
                    <a:pt x="27895" y="229963"/>
                  </a:lnTo>
                  <a:lnTo>
                    <a:pt x="59192" y="261259"/>
                  </a:lnTo>
                  <a:lnTo>
                    <a:pt x="98879" y="281782"/>
                  </a:lnTo>
                  <a:lnTo>
                    <a:pt x="144576" y="289153"/>
                  </a:lnTo>
                  <a:close/>
                </a:path>
              </a:pathLst>
            </a:custGeom>
            <a:ln w="25700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942282" y="5978525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60">
                  <a:moveTo>
                    <a:pt x="144576" y="289162"/>
                  </a:moveTo>
                  <a:lnTo>
                    <a:pt x="190275" y="281792"/>
                  </a:lnTo>
                  <a:lnTo>
                    <a:pt x="229962" y="261267"/>
                  </a:lnTo>
                  <a:lnTo>
                    <a:pt x="261258" y="229970"/>
                  </a:lnTo>
                  <a:lnTo>
                    <a:pt x="281782" y="190281"/>
                  </a:lnTo>
                  <a:lnTo>
                    <a:pt x="289152" y="144581"/>
                  </a:lnTo>
                  <a:lnTo>
                    <a:pt x="281782" y="98885"/>
                  </a:lnTo>
                  <a:lnTo>
                    <a:pt x="261258" y="59196"/>
                  </a:lnTo>
                  <a:lnTo>
                    <a:pt x="229962" y="27897"/>
                  </a:lnTo>
                  <a:lnTo>
                    <a:pt x="190275" y="7371"/>
                  </a:lnTo>
                  <a:lnTo>
                    <a:pt x="144576" y="0"/>
                  </a:lnTo>
                  <a:lnTo>
                    <a:pt x="98879" y="7371"/>
                  </a:lnTo>
                  <a:lnTo>
                    <a:pt x="59192" y="27897"/>
                  </a:lnTo>
                  <a:lnTo>
                    <a:pt x="27895" y="59196"/>
                  </a:lnTo>
                  <a:lnTo>
                    <a:pt x="7370" y="98885"/>
                  </a:lnTo>
                  <a:lnTo>
                    <a:pt x="0" y="144581"/>
                  </a:lnTo>
                  <a:lnTo>
                    <a:pt x="7370" y="190281"/>
                  </a:lnTo>
                  <a:lnTo>
                    <a:pt x="27895" y="229970"/>
                  </a:lnTo>
                  <a:lnTo>
                    <a:pt x="59192" y="261267"/>
                  </a:lnTo>
                  <a:lnTo>
                    <a:pt x="98879" y="281792"/>
                  </a:lnTo>
                  <a:lnTo>
                    <a:pt x="144576" y="289162"/>
                  </a:lnTo>
                  <a:close/>
                </a:path>
              </a:pathLst>
            </a:custGeom>
            <a:ln w="25701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942282" y="6646808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60" h="289559">
                  <a:moveTo>
                    <a:pt x="144576" y="289153"/>
                  </a:moveTo>
                  <a:lnTo>
                    <a:pt x="190275" y="281782"/>
                  </a:lnTo>
                  <a:lnTo>
                    <a:pt x="229962" y="261259"/>
                  </a:lnTo>
                  <a:lnTo>
                    <a:pt x="261258" y="229963"/>
                  </a:lnTo>
                  <a:lnTo>
                    <a:pt x="281782" y="190275"/>
                  </a:lnTo>
                  <a:lnTo>
                    <a:pt x="289152" y="144576"/>
                  </a:lnTo>
                  <a:lnTo>
                    <a:pt x="281782" y="98881"/>
                  </a:lnTo>
                  <a:lnTo>
                    <a:pt x="261258" y="59194"/>
                  </a:lnTo>
                  <a:lnTo>
                    <a:pt x="229962" y="27896"/>
                  </a:lnTo>
                  <a:lnTo>
                    <a:pt x="190275" y="7371"/>
                  </a:lnTo>
                  <a:lnTo>
                    <a:pt x="144576" y="0"/>
                  </a:lnTo>
                  <a:lnTo>
                    <a:pt x="98879" y="7371"/>
                  </a:lnTo>
                  <a:lnTo>
                    <a:pt x="59192" y="27896"/>
                  </a:lnTo>
                  <a:lnTo>
                    <a:pt x="27895" y="59194"/>
                  </a:lnTo>
                  <a:lnTo>
                    <a:pt x="7370" y="98881"/>
                  </a:lnTo>
                  <a:lnTo>
                    <a:pt x="0" y="144576"/>
                  </a:lnTo>
                  <a:lnTo>
                    <a:pt x="7370" y="190275"/>
                  </a:lnTo>
                  <a:lnTo>
                    <a:pt x="27895" y="229963"/>
                  </a:lnTo>
                  <a:lnTo>
                    <a:pt x="59192" y="261259"/>
                  </a:lnTo>
                  <a:lnTo>
                    <a:pt x="98879" y="281782"/>
                  </a:lnTo>
                  <a:lnTo>
                    <a:pt x="144576" y="289153"/>
                  </a:lnTo>
                  <a:close/>
                </a:path>
              </a:pathLst>
            </a:custGeom>
            <a:ln w="25700">
              <a:solidFill>
                <a:srgbClr val="0097D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56811" y="1988782"/>
            <a:ext cx="11755755" cy="1694180"/>
          </a:xfrm>
          <a:prstGeom prst="rect">
            <a:avLst/>
          </a:prstGeom>
        </p:spPr>
        <p:txBody>
          <a:bodyPr vert="horz" wrap="square" lIns="0" tIns="2038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05"/>
              </a:spcBef>
            </a:pPr>
            <a:r>
              <a:rPr sz="4300" spc="-70" dirty="0">
                <a:solidFill>
                  <a:srgbClr val="003687"/>
                </a:solidFill>
              </a:rPr>
              <a:t>SYSTEM ARCHITECTURE</a:t>
            </a:r>
            <a:endParaRPr sz="4300"/>
          </a:p>
          <a:p>
            <a:pPr marL="12700" marR="5080">
              <a:lnSpc>
                <a:spcPct val="109900"/>
              </a:lnSpc>
              <a:spcBef>
                <a:spcPts val="535"/>
              </a:spcBef>
            </a:pPr>
            <a:r>
              <a:rPr sz="2250" spc="25" dirty="0">
                <a:solidFill>
                  <a:srgbClr val="6DC201"/>
                </a:solidFill>
              </a:rPr>
              <a:t>One FastAPI service: the recommender core computes every number, the Trust Layer grounds it, the LLM only phrases it.</a:t>
            </a:r>
            <a:endParaRPr sz="2250"/>
          </a:p>
        </p:txBody>
      </p:sp>
      <p:sp>
        <p:nvSpPr>
          <p:cNvPr id="3" name="Rounded Rectangle 2"/>
          <p:cNvSpPr/>
          <p:nvPr/>
        </p:nvSpPr>
        <p:spPr>
          <a:xfrm>
            <a:off x="2583842" y="4381794"/>
            <a:ext cx="14765019" cy="700000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REACT DASHBOARD  (built static, served by FastAPI)</a:t>
            </a:r>
          </a:p>
        </p:txBody>
      </p:sp>
      <p:sp>
        <p:nvSpPr>
          <p:cNvPr id="4" name="Down Arrow 3"/>
          <p:cNvSpPr/>
          <p:nvPr/>
        </p:nvSpPr>
        <p:spPr>
          <a:xfrm>
            <a:off x="9766351" y="5181794"/>
            <a:ext cx="400000" cy="26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83842" y="5541794"/>
            <a:ext cx="14765019" cy="560000"/>
          </a:xfrm>
          <a:prstGeom prst="roundRect">
            <a:avLst/>
          </a:prstGeom>
          <a:solidFill>
            <a:srgbClr val="009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FASTAPI  —  /api</a:t>
            </a:r>
          </a:p>
        </p:txBody>
      </p:sp>
      <p:sp>
        <p:nvSpPr>
          <p:cNvPr id="6" name="Down Arrow 5"/>
          <p:cNvSpPr/>
          <p:nvPr/>
        </p:nvSpPr>
        <p:spPr>
          <a:xfrm>
            <a:off x="9766351" y="6201794"/>
            <a:ext cx="400000" cy="26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83842" y="6561794"/>
            <a:ext cx="3541254" cy="1500000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Orchestrator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Opus/Sonnet routing —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Forecast · Planning ·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Reallocation · Reporting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5096" y="6561794"/>
            <a:ext cx="3541254" cy="1500000"/>
          </a:xfrm>
          <a:prstGeom prst="roundRect">
            <a:avLst/>
          </a:prstGeom>
          <a:solidFill>
            <a:srgbClr val="6DC2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Recommender Core</a:t>
            </a:r>
          </a:p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Pure Python —</a:t>
            </a:r>
          </a:p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computes every number</a:t>
            </a:r>
          </a:p>
          <a:p>
            <a:pPr algn="ctr"/>
            <a:r>
              <a:rPr sz="1300" b="1">
                <a:solidFill>
                  <a:srgbClr val="1E2364"/>
                </a:solidFill>
                <a:latin typeface="Arial"/>
              </a:rPr>
              <a:t>(the IP)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66350" y="6561794"/>
            <a:ext cx="3541254" cy="1500000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Trust Layer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Mask · ground ·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score ·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07604" y="6561794"/>
            <a:ext cx="3541254" cy="1500000"/>
          </a:xfrm>
          <a:prstGeom prst="roundRect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Data Hub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Per-site CSV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ingestion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7970723" y="8161794"/>
            <a:ext cx="250000" cy="26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11711977" y="8161794"/>
            <a:ext cx="250000" cy="260000"/>
          </a:xfrm>
          <a:prstGeom prst="downArrow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83842" y="8521794"/>
            <a:ext cx="7182509" cy="1400000"/>
          </a:xfrm>
          <a:prstGeom prst="roundRect">
            <a:avLst/>
          </a:prstGeom>
          <a:solidFill>
            <a:srgbClr val="1E2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6351" y="8521794"/>
            <a:ext cx="7182509" cy="1400000"/>
          </a:xfrm>
          <a:prstGeom prst="roundRect">
            <a:avLst/>
          </a:prstGeom>
          <a:solidFill>
            <a:srgbClr val="009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Claude API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(phrasing only — grounded)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556811" y="2670316"/>
            <a:ext cx="2982595" cy="6851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300" spc="-110" dirty="0">
                <a:solidFill>
                  <a:srgbClr val="003687"/>
                </a:solidFill>
              </a:rPr>
              <a:t>PERSONAS</a:t>
            </a:r>
            <a:endParaRPr sz="4300"/>
          </a:p>
        </p:txBody>
      </p:sp>
      <p:sp>
        <p:nvSpPr>
          <p:cNvPr id="8" name="object 8"/>
          <p:cNvSpPr txBox="1"/>
          <p:nvPr/>
        </p:nvSpPr>
        <p:spPr>
          <a:xfrm>
            <a:off x="2556811" y="3720821"/>
            <a:ext cx="4564380" cy="383032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spcAft>
                <a:spcPts val="1400"/>
              </a:spcAft>
            </a:pPr>
            <a:r>
              <a:rPr sz="2600" b="1">
                <a:solidFill>
                  <a:srgbClr val="6DC201"/>
                </a:solidFill>
                <a:latin typeface="Arial"/>
              </a:rPr>
              <a:t>Who is the user(s)?</a:t>
            </a:r>
            <a:endParaRPr sz="3100">
              <a:latin typeface="Arial"/>
              <a:cs typeface="Arial"/>
            </a:endParaRPr>
          </a:p>
          <a:p>
            <a:pPr>
              <a:spcAft>
                <a:spcPts val="0"/>
              </a:spcAft>
            </a:pPr>
            <a:r>
              <a:rPr sz="1700" b="1">
                <a:solidFill>
                  <a:srgbClr val="003687"/>
                </a:solidFill>
              </a:rPr>
              <a:t>Three roles per chain, one shared plan: the owner decides, the manager reallocates across sites, the baker executes each morning.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9670" y="2645718"/>
            <a:ext cx="2604359" cy="69613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6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9836849" y="2825718"/>
            <a:ext cx="1150000" cy="1150000"/>
          </a:xfrm>
          <a:prstGeom prst="ellipse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9670" y="4035718"/>
            <a:ext cx="2364359" cy="4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2364"/>
                </a:solidFill>
                <a:latin typeface="Arial"/>
              </a:rPr>
              <a:t>Marta, 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29670" y="4455718"/>
            <a:ext cx="2364359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DC201"/>
                </a:solidFill>
                <a:latin typeface="Arial"/>
              </a:rPr>
              <a:t>Chain owner — final decision-maker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9670" y="4875718"/>
            <a:ext cx="2204359" cy="4581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Wants € recovered, not statistics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Checks the app once each morning, on her phone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Risk-averse — always keeps the final call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15 years running the shops on gut feel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914029" y="2645718"/>
            <a:ext cx="2604359" cy="69613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6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12641208" y="2825718"/>
            <a:ext cx="1150000" cy="1150000"/>
          </a:xfrm>
          <a:prstGeom prst="ellipse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34029" y="4035718"/>
            <a:ext cx="2364359" cy="4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2364"/>
                </a:solidFill>
                <a:latin typeface="Arial"/>
              </a:rPr>
              <a:t>Diego, 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34029" y="4455718"/>
            <a:ext cx="2364359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DC201"/>
                </a:solidFill>
                <a:latin typeface="Arial"/>
              </a:rPr>
              <a:t>Shift baker — executes the 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14029" y="4875718"/>
            <a:ext cx="2204359" cy="4581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Needs a one-page printable bake list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On shift at 5am — no time for a dashboard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Wants a number per product, not a probability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The printed sheet is his interface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718388" y="2645718"/>
            <a:ext cx="2604359" cy="69613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6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0" name="Oval 19"/>
          <p:cNvSpPr/>
          <p:nvPr/>
        </p:nvSpPr>
        <p:spPr>
          <a:xfrm>
            <a:off x="15445567" y="2825718"/>
            <a:ext cx="1150000" cy="1150000"/>
          </a:xfrm>
          <a:prstGeom prst="ellipse">
            <a:avLst/>
          </a:prstGeom>
          <a:solidFill>
            <a:srgbClr val="0036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38388" y="4035718"/>
            <a:ext cx="2364359" cy="4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2364"/>
                </a:solidFill>
                <a:latin typeface="Arial"/>
              </a:rPr>
              <a:t>Sofia, 35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838388" y="4455718"/>
            <a:ext cx="2364359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DC201"/>
                </a:solidFill>
                <a:latin typeface="Arial"/>
              </a:rPr>
              <a:t>Ops manager — oversees 2-4 sites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918388" y="4875718"/>
            <a:ext cx="2204359" cy="4581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Wants to see the cross-site imbalance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Approves or rejects each reallocation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Reviews weekly waste + True Margin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364"/>
                </a:solidFill>
              </a:rPr>
              <a:t>•  Needs an audit trail for every change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7171" y="40069"/>
            <a:ext cx="18168620" cy="10250805"/>
            <a:chOff x="77171" y="40069"/>
            <a:chExt cx="18168620" cy="10250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1" y="40069"/>
              <a:ext cx="2603642" cy="260564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15690485" y="0"/>
                  </a:moveTo>
                  <a:lnTo>
                    <a:pt x="638724" y="0"/>
                  </a:ln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887444" y="1832404"/>
              <a:ext cx="16329660" cy="8429625"/>
            </a:xfrm>
            <a:custGeom>
              <a:avLst/>
              <a:gdLst/>
              <a:ahLst/>
              <a:cxnLst/>
              <a:rect l="l" t="t" r="r" b="b"/>
              <a:pathLst>
                <a:path w="16329660" h="8429625">
                  <a:moveTo>
                    <a:pt x="638724" y="0"/>
                  </a:moveTo>
                  <a:lnTo>
                    <a:pt x="591055" y="1751"/>
                  </a:lnTo>
                  <a:lnTo>
                    <a:pt x="544337" y="6925"/>
                  </a:lnTo>
                  <a:lnTo>
                    <a:pt x="498695" y="15396"/>
                  </a:lnTo>
                  <a:lnTo>
                    <a:pt x="454251" y="27042"/>
                  </a:lnTo>
                  <a:lnTo>
                    <a:pt x="411129" y="41739"/>
                  </a:lnTo>
                  <a:lnTo>
                    <a:pt x="369453" y="59364"/>
                  </a:lnTo>
                  <a:lnTo>
                    <a:pt x="329346" y="79792"/>
                  </a:lnTo>
                  <a:lnTo>
                    <a:pt x="290931" y="102902"/>
                  </a:lnTo>
                  <a:lnTo>
                    <a:pt x="254332" y="128568"/>
                  </a:lnTo>
                  <a:lnTo>
                    <a:pt x="219673" y="156667"/>
                  </a:lnTo>
                  <a:lnTo>
                    <a:pt x="187077" y="187077"/>
                  </a:lnTo>
                  <a:lnTo>
                    <a:pt x="156667" y="219673"/>
                  </a:lnTo>
                  <a:lnTo>
                    <a:pt x="128568" y="254332"/>
                  </a:lnTo>
                  <a:lnTo>
                    <a:pt x="102902" y="290931"/>
                  </a:lnTo>
                  <a:lnTo>
                    <a:pt x="79792" y="329346"/>
                  </a:lnTo>
                  <a:lnTo>
                    <a:pt x="59364" y="369453"/>
                  </a:lnTo>
                  <a:lnTo>
                    <a:pt x="41739" y="411129"/>
                  </a:lnTo>
                  <a:lnTo>
                    <a:pt x="27042" y="454251"/>
                  </a:lnTo>
                  <a:lnTo>
                    <a:pt x="15396" y="498695"/>
                  </a:lnTo>
                  <a:lnTo>
                    <a:pt x="6925" y="544337"/>
                  </a:lnTo>
                  <a:lnTo>
                    <a:pt x="1751" y="591055"/>
                  </a:lnTo>
                  <a:lnTo>
                    <a:pt x="0" y="638724"/>
                  </a:lnTo>
                  <a:lnTo>
                    <a:pt x="0" y="7790338"/>
                  </a:lnTo>
                  <a:lnTo>
                    <a:pt x="1751" y="7838007"/>
                  </a:lnTo>
                  <a:lnTo>
                    <a:pt x="6925" y="7884724"/>
                  </a:lnTo>
                  <a:lnTo>
                    <a:pt x="15396" y="7930367"/>
                  </a:lnTo>
                  <a:lnTo>
                    <a:pt x="27042" y="7974811"/>
                  </a:lnTo>
                  <a:lnTo>
                    <a:pt x="41739" y="8017932"/>
                  </a:lnTo>
                  <a:lnTo>
                    <a:pt x="59364" y="8059609"/>
                  </a:lnTo>
                  <a:lnTo>
                    <a:pt x="79792" y="8099716"/>
                  </a:lnTo>
                  <a:lnTo>
                    <a:pt x="102902" y="8138131"/>
                  </a:lnTo>
                  <a:lnTo>
                    <a:pt x="128568" y="8174729"/>
                  </a:lnTo>
                  <a:lnTo>
                    <a:pt x="156667" y="8209389"/>
                  </a:lnTo>
                  <a:lnTo>
                    <a:pt x="187077" y="8241985"/>
                  </a:lnTo>
                  <a:lnTo>
                    <a:pt x="219673" y="8272394"/>
                  </a:lnTo>
                  <a:lnTo>
                    <a:pt x="254332" y="8300494"/>
                  </a:lnTo>
                  <a:lnTo>
                    <a:pt x="290931" y="8326160"/>
                  </a:lnTo>
                  <a:lnTo>
                    <a:pt x="329346" y="8349269"/>
                  </a:lnTo>
                  <a:lnTo>
                    <a:pt x="369453" y="8369698"/>
                  </a:lnTo>
                  <a:lnTo>
                    <a:pt x="411129" y="8387322"/>
                  </a:lnTo>
                  <a:lnTo>
                    <a:pt x="454251" y="8402019"/>
                  </a:lnTo>
                  <a:lnTo>
                    <a:pt x="498695" y="8413665"/>
                  </a:lnTo>
                  <a:lnTo>
                    <a:pt x="544337" y="8422137"/>
                  </a:lnTo>
                  <a:lnTo>
                    <a:pt x="591055" y="8427310"/>
                  </a:lnTo>
                  <a:lnTo>
                    <a:pt x="638724" y="8429062"/>
                  </a:lnTo>
                  <a:lnTo>
                    <a:pt x="15690485" y="8429062"/>
                  </a:lnTo>
                  <a:lnTo>
                    <a:pt x="15738154" y="8427310"/>
                  </a:lnTo>
                  <a:lnTo>
                    <a:pt x="15784871" y="8422137"/>
                  </a:lnTo>
                  <a:lnTo>
                    <a:pt x="15830514" y="8413665"/>
                  </a:lnTo>
                  <a:lnTo>
                    <a:pt x="15874958" y="8402019"/>
                  </a:lnTo>
                  <a:lnTo>
                    <a:pt x="15918079" y="8387322"/>
                  </a:lnTo>
                  <a:lnTo>
                    <a:pt x="15959756" y="8369698"/>
                  </a:lnTo>
                  <a:lnTo>
                    <a:pt x="15999863" y="8349269"/>
                  </a:lnTo>
                  <a:lnTo>
                    <a:pt x="16038278" y="8326160"/>
                  </a:lnTo>
                  <a:lnTo>
                    <a:pt x="16074876" y="8300494"/>
                  </a:lnTo>
                  <a:lnTo>
                    <a:pt x="16109536" y="8272394"/>
                  </a:lnTo>
                  <a:lnTo>
                    <a:pt x="16142132" y="8241985"/>
                  </a:lnTo>
                  <a:lnTo>
                    <a:pt x="16172541" y="8209389"/>
                  </a:lnTo>
                  <a:lnTo>
                    <a:pt x="16200641" y="8174729"/>
                  </a:lnTo>
                  <a:lnTo>
                    <a:pt x="16226307" y="8138131"/>
                  </a:lnTo>
                  <a:lnTo>
                    <a:pt x="16249416" y="8099716"/>
                  </a:lnTo>
                  <a:lnTo>
                    <a:pt x="16269845" y="8059609"/>
                  </a:lnTo>
                  <a:lnTo>
                    <a:pt x="16287469" y="8017932"/>
                  </a:lnTo>
                  <a:lnTo>
                    <a:pt x="16302166" y="7974811"/>
                  </a:lnTo>
                  <a:lnTo>
                    <a:pt x="16313812" y="7930367"/>
                  </a:lnTo>
                  <a:lnTo>
                    <a:pt x="16322284" y="7884724"/>
                  </a:lnTo>
                  <a:lnTo>
                    <a:pt x="16327457" y="7838007"/>
                  </a:lnTo>
                  <a:lnTo>
                    <a:pt x="16329209" y="7790338"/>
                  </a:lnTo>
                  <a:lnTo>
                    <a:pt x="16329209" y="638724"/>
                  </a:lnTo>
                  <a:lnTo>
                    <a:pt x="16327457" y="591055"/>
                  </a:lnTo>
                  <a:lnTo>
                    <a:pt x="16322284" y="544337"/>
                  </a:lnTo>
                  <a:lnTo>
                    <a:pt x="16313812" y="498695"/>
                  </a:lnTo>
                  <a:lnTo>
                    <a:pt x="16302166" y="454251"/>
                  </a:lnTo>
                  <a:lnTo>
                    <a:pt x="16287469" y="411129"/>
                  </a:lnTo>
                  <a:lnTo>
                    <a:pt x="16269845" y="369453"/>
                  </a:lnTo>
                  <a:lnTo>
                    <a:pt x="16249416" y="329346"/>
                  </a:lnTo>
                  <a:lnTo>
                    <a:pt x="16226307" y="290931"/>
                  </a:lnTo>
                  <a:lnTo>
                    <a:pt x="16200641" y="254332"/>
                  </a:lnTo>
                  <a:lnTo>
                    <a:pt x="16172541" y="219673"/>
                  </a:lnTo>
                  <a:lnTo>
                    <a:pt x="16142132" y="187077"/>
                  </a:lnTo>
                  <a:lnTo>
                    <a:pt x="16109536" y="156667"/>
                  </a:lnTo>
                  <a:lnTo>
                    <a:pt x="16074876" y="128568"/>
                  </a:lnTo>
                  <a:lnTo>
                    <a:pt x="16038278" y="102902"/>
                  </a:lnTo>
                  <a:lnTo>
                    <a:pt x="15999863" y="79792"/>
                  </a:lnTo>
                  <a:lnTo>
                    <a:pt x="15959756" y="59364"/>
                  </a:lnTo>
                  <a:lnTo>
                    <a:pt x="15918079" y="41739"/>
                  </a:lnTo>
                  <a:lnTo>
                    <a:pt x="15874958" y="27042"/>
                  </a:lnTo>
                  <a:lnTo>
                    <a:pt x="15830514" y="15396"/>
                  </a:lnTo>
                  <a:lnTo>
                    <a:pt x="15784871" y="6925"/>
                  </a:lnTo>
                  <a:lnTo>
                    <a:pt x="15738154" y="1751"/>
                  </a:lnTo>
                  <a:lnTo>
                    <a:pt x="15690485" y="0"/>
                  </a:lnTo>
                  <a:lnTo>
                    <a:pt x="638724" y="0"/>
                  </a:lnTo>
                  <a:close/>
                </a:path>
              </a:pathLst>
            </a:custGeom>
            <a:ln w="57589">
              <a:solidFill>
                <a:srgbClr val="6DC20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556811" y="2355677"/>
            <a:ext cx="3399154" cy="68516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300" spc="50" dirty="0">
                <a:solidFill>
                  <a:srgbClr val="003687"/>
                </a:solidFill>
              </a:rPr>
              <a:t>JUMP</a:t>
            </a:r>
            <a:r>
              <a:rPr sz="4300" spc="-245" dirty="0">
                <a:solidFill>
                  <a:srgbClr val="003687"/>
                </a:solidFill>
              </a:rPr>
              <a:t> </a:t>
            </a:r>
            <a:r>
              <a:rPr sz="4300" spc="-195" dirty="0">
                <a:solidFill>
                  <a:srgbClr val="003687"/>
                </a:solidFill>
              </a:rPr>
              <a:t>START</a:t>
            </a:r>
            <a:endParaRPr sz="4300"/>
          </a:p>
        </p:txBody>
      </p:sp>
      <p:sp>
        <p:nvSpPr>
          <p:cNvPr id="7" name="object 7"/>
          <p:cNvSpPr txBox="1"/>
          <p:nvPr/>
        </p:nvSpPr>
        <p:spPr>
          <a:xfrm>
            <a:off x="2556812" y="3229258"/>
            <a:ext cx="4392295" cy="3587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150" b="1" spc="60" dirty="0">
                <a:solidFill>
                  <a:srgbClr val="003687"/>
                </a:solidFill>
                <a:latin typeface="Arial"/>
                <a:cs typeface="Arial"/>
              </a:rPr>
              <a:t>How will we get started quickly?</a:t>
            </a:r>
            <a:endParaRPr sz="21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556812" y="4761772"/>
            <a:ext cx="14763115" cy="84899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25600"/>
              </a:lnSpc>
              <a:spcBef>
                <a:spcPts val="90"/>
              </a:spcBef>
            </a:pPr>
            <a:r>
              <a:rPr sz="1800" b="1" spc="-50" dirty="0">
                <a:solidFill>
                  <a:srgbClr val="003687"/>
                </a:solidFill>
                <a:latin typeface="Tahoma"/>
                <a:cs typeface="Tahoma"/>
              </a:rPr>
              <a:t>Our own network: a 2-4 site Madrid bakery chain a teammate has direct access to, plus the class demo audience as first testers.</a:t>
            </a:r>
            <a:endParaRPr sz="21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556812" y="6957181"/>
            <a:ext cx="9182100" cy="3587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0" b="1" spc="-50" dirty="0">
                <a:solidFill>
                  <a:srgbClr val="003687"/>
                </a:solidFill>
                <a:latin typeface="Tahoma"/>
                <a:cs typeface="Tahoma"/>
              </a:rPr>
              <a:t>They match the Need persona exactly: an owner planning by gut feel who already tracks daily waste by hand.</a:t>
            </a:r>
            <a:endParaRPr sz="215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556812" y="8418661"/>
            <a:ext cx="9315450" cy="3587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0" b="1" spc="-100" dirty="0">
                <a:solidFill>
                  <a:srgbClr val="003687"/>
                </a:solidFill>
                <a:latin typeface="Tahoma"/>
                <a:cs typeface="Tahoma"/>
              </a:rPr>
              <a:t>Minimum work for real value: CSV/paste ingestion of their sales + waste history — forecast, plan, and Trust Layer are already built and tested.</a:t>
            </a:r>
            <a:endParaRPr sz="21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537</Words>
  <Application>Microsoft Office PowerPoint</Application>
  <PresentationFormat>Personalizado</PresentationFormat>
  <Paragraphs>70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Arial MT</vt:lpstr>
      <vt:lpstr>Calibri</vt:lpstr>
      <vt:lpstr>Tahoma</vt:lpstr>
      <vt:lpstr>Times New Roman</vt:lpstr>
      <vt:lpstr>Office Theme</vt:lpstr>
      <vt:lpstr>Sample of Low-Tech Demo</vt:lpstr>
      <vt:lpstr>PROJECT NAME:</vt:lpstr>
      <vt:lpstr>Need</vt:lpstr>
      <vt:lpstr>WHAT IS YOUR PROJECT?</vt:lpstr>
      <vt:lpstr>DESIGN THE USER PERSPECTIVE.  ILLUSTRATE UI INPUT/OUTPUTOR</vt:lpstr>
      <vt:lpstr>TECHNICAL COMPONENTS OF PROJECT Top Components Required for the Project in Order of Importance</vt:lpstr>
      <vt:lpstr>SAMPLE SYSTEM ARCHITECTURE Replace the diagram below with your rough System Architecture and/or Data Models.  (It is okay to use two or more slides in this section).</vt:lpstr>
      <vt:lpstr>SAMPLE SYSTEM ARCHITECTURE Replace the diagram below with your rough System Architecture and/or Data Models.  (It is okay to use two or more slides in this section).</vt:lpstr>
      <vt:lpstr>SAMPLE SYSTEM ARCHITECTURE Replace the diagram below with your rough System Architecture and/or Data Models.  (It is okay to use two or more slides in this section).</vt:lpstr>
      <vt:lpstr>SAMPLE SYSTEM ARCHITECTURE Replace the diagram below with your rough System Architecture and/or Data Models.  (It is okay to use two or more slides in this section).</vt:lpstr>
      <vt:lpstr>PERSONAS</vt:lpstr>
      <vt:lpstr>JUMP START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Manoel Fernando Alonso Gadi</cp:lastModifiedBy>
  <cp:revision>1</cp:revision>
  <dcterms:created xsi:type="dcterms:W3CDTF">2024-10-15T07:24:04Z</dcterms:created>
  <dcterms:modified xsi:type="dcterms:W3CDTF">2024-10-15T07:25:50Z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2023-07-24T00:00:00Z</vt:filetime>
  </property>
  <property fmtid="{D5CDD505-2E9C-101B-9397-08002B2CF9AE}" pid="3" name="Creator">
    <vt:lpwstr>Adobe InDesign 18.4 (Macintosh)</vt:lpwstr>
  </property>
  <property fmtid="{D5CDD505-2E9C-101B-9397-08002B2CF9AE}" pid="4" name="LastSaved">
    <vt:filetime>2024-10-15T00:00:00Z</vt:filetime>
  </property>
</Properties>
</file>