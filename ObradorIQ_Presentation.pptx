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3" name="Picture 2" descr="obrador_iq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47464" y="384048"/>
            <a:ext cx="4297680" cy="28651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3520440"/>
            <a:ext cx="10362895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400" b="1" i="0">
                <a:solidFill>
                  <a:srgbClr val="263A4E"/>
                </a:solidFill>
                <a:latin typeface="Georgia"/>
              </a:rPr>
              <a:t>The AI Waste-Killer for Small Bakery Chains</a:t>
            </a:r>
          </a:p>
        </p:txBody>
      </p:sp>
      <p:sp>
        <p:nvSpPr>
          <p:cNvPr id="5" name="Rectangle 4"/>
          <p:cNvSpPr/>
          <p:nvPr/>
        </p:nvSpPr>
        <p:spPr>
          <a:xfrm>
            <a:off x="5593384" y="4187952"/>
            <a:ext cx="1005840" cy="29260"/>
          </a:xfrm>
          <a:prstGeom prst="rect">
            <a:avLst/>
          </a:prstGeom>
          <a:solidFill>
            <a:srgbClr val="D129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4434840"/>
            <a:ext cx="1036289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50" b="0" i="0">
                <a:solidFill>
                  <a:srgbClr val="5C7185"/>
                </a:solidFill>
                <a:latin typeface="Arial"/>
              </a:rPr>
              <a:t>Charles de Wouters · Asier Gomez · Ivan Delgado · Vicente Giner · Jon Uria · Erik Conejo · Juan Carneiro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828032"/>
            <a:ext cx="1036289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6E7780"/>
                </a:solidFill>
                <a:latin typeface="Arial"/>
              </a:rPr>
              <a:t>July 8, 2026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67604" y="5897880"/>
            <a:ext cx="2057400" cy="402336"/>
          </a:xfrm>
          <a:prstGeom prst="roundRect">
            <a:avLst>
              <a:gd name="adj" fmla="val 50000"/>
            </a:avLst>
          </a:prstGeom>
          <a:solidFill>
            <a:srgbClr val="263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Innovation Engineering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566928" y="6473952"/>
            <a:ext cx="11055096" cy="0"/>
          </a:xfrm>
          <a:prstGeom prst="line">
            <a:avLst/>
          </a:prstGeom>
          <a:ln w="9525">
            <a:solidFill>
              <a:srgbClr val="E2DED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10607040" y="6528816"/>
            <a:ext cx="1014984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6E7780"/>
                </a:solidFill>
                <a:latin typeface="Arial"/>
              </a:rPr>
              <a:t>2 /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03504"/>
            <a:ext cx="1097280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900" b="1" i="0">
                <a:solidFill>
                  <a:srgbClr val="263A4E"/>
                </a:solidFill>
                <a:latin typeface="Georgia"/>
              </a:rPr>
              <a:t>OBRADORIQ</a:t>
            </a:r>
          </a:p>
        </p:txBody>
      </p:sp>
      <p:sp>
        <p:nvSpPr>
          <p:cNvPr id="5" name="Rectangle 4"/>
          <p:cNvSpPr/>
          <p:nvPr/>
        </p:nvSpPr>
        <p:spPr>
          <a:xfrm>
            <a:off x="576072" y="1136396"/>
            <a:ext cx="960120" cy="29260"/>
          </a:xfrm>
          <a:prstGeom prst="rect">
            <a:avLst/>
          </a:prstGeom>
          <a:solidFill>
            <a:srgbClr val="D129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128270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5C7185"/>
                </a:solidFill>
                <a:latin typeface="Arial"/>
              </a:rPr>
              <a:t>Team members and contact information: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1828800"/>
            <a:ext cx="11055096" cy="475488"/>
          </a:xfrm>
          <a:prstGeom prst="rect">
            <a:avLst/>
          </a:prstGeom>
          <a:solidFill>
            <a:srgbClr val="263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95528" y="1947672"/>
            <a:ext cx="397763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FFFFFF"/>
                </a:solidFill>
                <a:latin typeface="Arial"/>
              </a:rPr>
              <a:t>Name: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01768" y="1947672"/>
            <a:ext cx="639165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FFFFFF"/>
                </a:solidFill>
                <a:latin typeface="Arial"/>
              </a:rPr>
              <a:t>Email: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2304288"/>
            <a:ext cx="11055096" cy="512064"/>
          </a:xfrm>
          <a:prstGeom prst="rect">
            <a:avLst/>
          </a:prstGeom>
          <a:solidFill>
            <a:srgbClr val="F6F3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95528" y="2441448"/>
            <a:ext cx="397763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63A4E"/>
                </a:solidFill>
                <a:latin typeface="Arial"/>
              </a:rPr>
              <a:t>Charles de Wouters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01768" y="2441448"/>
            <a:ext cx="639165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5C7185"/>
                </a:solidFill>
                <a:latin typeface="Arial"/>
              </a:rPr>
              <a:t>charles.dewouters@student.ie.edu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66928" y="2816352"/>
            <a:ext cx="11055096" cy="51206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95528" y="2953512"/>
            <a:ext cx="397763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63A4E"/>
                </a:solidFill>
                <a:latin typeface="Arial"/>
              </a:rPr>
              <a:t>Asier Gomez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01768" y="2953512"/>
            <a:ext cx="639165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5C7185"/>
                </a:solidFill>
                <a:latin typeface="Arial"/>
              </a:rPr>
              <a:t>asier.gomez@student.ie.edu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66928" y="3328416"/>
            <a:ext cx="11055096" cy="512064"/>
          </a:xfrm>
          <a:prstGeom prst="rect">
            <a:avLst/>
          </a:prstGeom>
          <a:solidFill>
            <a:srgbClr val="F6F3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95528" y="3465576"/>
            <a:ext cx="397763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63A4E"/>
                </a:solidFill>
                <a:latin typeface="Arial"/>
              </a:rPr>
              <a:t>Ivan Delgado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01768" y="3465576"/>
            <a:ext cx="639165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5C7185"/>
                </a:solidFill>
                <a:latin typeface="Arial"/>
              </a:rPr>
              <a:t>ivan.delgado@student.ie.edu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66928" y="3840480"/>
            <a:ext cx="11055096" cy="51206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95528" y="3977640"/>
            <a:ext cx="397763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63A4E"/>
                </a:solidFill>
                <a:latin typeface="Arial"/>
              </a:rPr>
              <a:t>Vicente Giner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01768" y="3977640"/>
            <a:ext cx="639165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5C7185"/>
                </a:solidFill>
                <a:latin typeface="Arial"/>
              </a:rPr>
              <a:t>vicente.giner@student.ie.edu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66928" y="4352544"/>
            <a:ext cx="11055096" cy="512064"/>
          </a:xfrm>
          <a:prstGeom prst="rect">
            <a:avLst/>
          </a:prstGeom>
          <a:solidFill>
            <a:srgbClr val="F6F3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95528" y="4489704"/>
            <a:ext cx="397763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63A4E"/>
                </a:solidFill>
                <a:latin typeface="Arial"/>
              </a:rPr>
              <a:t>Jon Uria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01768" y="4489704"/>
            <a:ext cx="639165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5C7185"/>
                </a:solidFill>
                <a:latin typeface="Arial"/>
              </a:rPr>
              <a:t>jon.uria@student.ie.edu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66928" y="4864608"/>
            <a:ext cx="11055096" cy="51206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95528" y="5001768"/>
            <a:ext cx="397763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63A4E"/>
                </a:solidFill>
                <a:latin typeface="Arial"/>
              </a:rPr>
              <a:t>Erik Conejo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01768" y="5001768"/>
            <a:ext cx="639165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5C7185"/>
                </a:solidFill>
                <a:latin typeface="Arial"/>
              </a:rPr>
              <a:t>erik.conejo@student.ie.edu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66928" y="5376672"/>
            <a:ext cx="11055096" cy="512064"/>
          </a:xfrm>
          <a:prstGeom prst="rect">
            <a:avLst/>
          </a:prstGeom>
          <a:solidFill>
            <a:srgbClr val="F6F3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95528" y="5513832"/>
            <a:ext cx="397763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63A4E"/>
                </a:solidFill>
                <a:latin typeface="Arial"/>
              </a:rPr>
              <a:t>Juan Carneiro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01768" y="5513832"/>
            <a:ext cx="639165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5C7185"/>
                </a:solidFill>
                <a:latin typeface="Arial"/>
              </a:rPr>
              <a:t>juan.carneiro@student.ie.edu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566928" y="5888736"/>
            <a:ext cx="11055096" cy="0"/>
          </a:xfrm>
          <a:prstGeom prst="line">
            <a:avLst/>
          </a:prstGeom>
          <a:ln w="12700">
            <a:solidFill>
              <a:srgbClr val="E2DED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56032"/>
            <a:ext cx="2743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 spc="300">
                <a:solidFill>
                  <a:srgbClr val="5C7185"/>
                </a:solidFill>
                <a:latin typeface="Arial"/>
              </a:rPr>
              <a:t>OBRADORIQ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66928" y="6473952"/>
            <a:ext cx="11055096" cy="0"/>
          </a:xfrm>
          <a:prstGeom prst="line">
            <a:avLst/>
          </a:prstGeom>
          <a:ln w="9525">
            <a:solidFill>
              <a:srgbClr val="E2DED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10607040" y="6528816"/>
            <a:ext cx="1014984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6E7780"/>
                </a:solidFill>
                <a:latin typeface="Arial"/>
              </a:rPr>
              <a:t>3 / 9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713232"/>
            <a:ext cx="2592324" cy="4041648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66928" y="713232"/>
            <a:ext cx="2592324" cy="530352"/>
          </a:xfrm>
          <a:prstGeom prst="roundRect">
            <a:avLst>
              <a:gd name="adj" fmla="val 4500"/>
            </a:avLst>
          </a:prstGeom>
          <a:solidFill>
            <a:srgbClr val="263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sz="1700" b="1" i="0">
                <a:solidFill>
                  <a:srgbClr val="D1294B"/>
                </a:solidFill>
                <a:latin typeface="Georgia"/>
              </a:rPr>
              <a:t>N</a:t>
            </a:r>
            <a:r>
              <a:rPr sz="1700" b="1" i="0">
                <a:solidFill>
                  <a:srgbClr val="FFFFFF"/>
                </a:solidFill>
                <a:latin typeface="Georgia"/>
              </a:rPr>
              <a:t>eed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8" y="1426463"/>
            <a:ext cx="2226564" cy="31455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1000"/>
              </a:spcAft>
            </a:pPr>
            <a:r>
              <a:rPr sz="1150" b="1" i="0">
                <a:solidFill>
                  <a:srgbClr val="D1294B"/>
                </a:solidFill>
                <a:latin typeface="Arial"/>
              </a:rPr>
              <a:t>▸  </a:t>
            </a:r>
            <a:r>
              <a:rPr sz="1150" b="0" i="0">
                <a:solidFill>
                  <a:srgbClr val="263A4E"/>
                </a:solidFill>
                <a:latin typeface="Arial"/>
              </a:rPr>
              <a:t>Small bakery chains (2-4 sites) over-produce at one shop while another sells out.</a:t>
            </a:r>
          </a:p>
          <a:p>
            <a:pPr algn="l">
              <a:lnSpc>
                <a:spcPct val="112000"/>
              </a:lnSpc>
              <a:spcAft>
                <a:spcPts val="1000"/>
              </a:spcAft>
            </a:pPr>
            <a:r>
              <a:rPr sz="1150" b="1" i="0">
                <a:solidFill>
                  <a:srgbClr val="D1294B"/>
                </a:solidFill>
                <a:latin typeface="Arial"/>
              </a:rPr>
              <a:t>▸  </a:t>
            </a:r>
            <a:r>
              <a:rPr sz="1150" b="0" i="0">
                <a:solidFill>
                  <a:srgbClr val="263A4E"/>
                </a:solidFill>
                <a:latin typeface="Arial"/>
              </a:rPr>
              <a:t>Waste is money already spent; a stockout is margin left on the floor.</a:t>
            </a:r>
          </a:p>
          <a:p>
            <a:pPr algn="l">
              <a:lnSpc>
                <a:spcPct val="112000"/>
              </a:lnSpc>
              <a:spcAft>
                <a:spcPts val="1000"/>
              </a:spcAft>
            </a:pPr>
            <a:r>
              <a:rPr sz="1150" b="1" i="0">
                <a:solidFill>
                  <a:srgbClr val="D1294B"/>
                </a:solidFill>
                <a:latin typeface="Arial"/>
              </a:rPr>
              <a:t>▸  </a:t>
            </a:r>
            <a:r>
              <a:rPr sz="1150" b="0" i="0">
                <a:solidFill>
                  <a:srgbClr val="263A4E"/>
                </a:solidFill>
                <a:latin typeface="Arial"/>
              </a:rPr>
              <a:t>Owners plan from gut feel + yesterday's leftovers — no one can see the cross-site imbalance.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387852" y="713232"/>
            <a:ext cx="2592324" cy="4041648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3387852" y="713232"/>
            <a:ext cx="2592324" cy="530352"/>
          </a:xfrm>
          <a:prstGeom prst="roundRect">
            <a:avLst>
              <a:gd name="adj" fmla="val 4500"/>
            </a:avLst>
          </a:prstGeom>
          <a:solidFill>
            <a:srgbClr val="263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sz="1700" b="1" i="0">
                <a:solidFill>
                  <a:srgbClr val="D1294B"/>
                </a:solidFill>
                <a:latin typeface="Georgia"/>
              </a:rPr>
              <a:t>A</a:t>
            </a:r>
            <a:r>
              <a:rPr sz="1700" b="1" i="0">
                <a:solidFill>
                  <a:srgbClr val="FFFFFF"/>
                </a:solidFill>
                <a:latin typeface="Georgia"/>
              </a:rPr>
              <a:t>pproach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70732" y="1426463"/>
            <a:ext cx="2226564" cy="31455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1000"/>
              </a:spcAft>
            </a:pPr>
            <a:r>
              <a:rPr sz="1150" b="1" i="0">
                <a:solidFill>
                  <a:srgbClr val="D1294B"/>
                </a:solidFill>
                <a:latin typeface="Arial"/>
              </a:rPr>
              <a:t>▸  </a:t>
            </a:r>
            <a:r>
              <a:rPr sz="1150" b="0" i="0">
                <a:solidFill>
                  <a:srgbClr val="263A4E"/>
                </a:solidFill>
                <a:latin typeface="Arial"/>
              </a:rPr>
              <a:t>Deterministic recommender core: weather/holiday-aware forecast → newsvendor optimizer.</a:t>
            </a:r>
          </a:p>
          <a:p>
            <a:pPr algn="l">
              <a:lnSpc>
                <a:spcPct val="112000"/>
              </a:lnSpc>
              <a:spcAft>
                <a:spcPts val="1000"/>
              </a:spcAft>
            </a:pPr>
            <a:r>
              <a:rPr sz="1150" b="1" i="0">
                <a:solidFill>
                  <a:srgbClr val="D1294B"/>
                </a:solidFill>
                <a:latin typeface="Arial"/>
              </a:rPr>
              <a:t>▸  </a:t>
            </a:r>
            <a:r>
              <a:rPr sz="1150" b="0" i="0">
                <a:solidFill>
                  <a:srgbClr val="263A4E"/>
                </a:solidFill>
                <a:latin typeface="Arial"/>
              </a:rPr>
              <a:t>Cross-site reallocation: flags a chronic over-producer vs. a sell-out sibling site.</a:t>
            </a:r>
          </a:p>
          <a:p>
            <a:pPr algn="l">
              <a:lnSpc>
                <a:spcPct val="112000"/>
              </a:lnSpc>
              <a:spcAft>
                <a:spcPts val="1000"/>
              </a:spcAft>
            </a:pPr>
            <a:r>
              <a:rPr sz="1150" b="1" i="0">
                <a:solidFill>
                  <a:srgbClr val="D1294B"/>
                </a:solidFill>
                <a:latin typeface="Arial"/>
              </a:rPr>
              <a:t>▸  </a:t>
            </a:r>
            <a:r>
              <a:rPr sz="1150" b="0" i="0">
                <a:solidFill>
                  <a:srgbClr val="263A4E"/>
                </a:solidFill>
                <a:latin typeface="Arial"/>
              </a:rPr>
              <a:t>Trust-Layer-grounded LLM agent phrases results &amp; answers questions — never invents a number.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08776" y="713232"/>
            <a:ext cx="2592324" cy="4041648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208776" y="713232"/>
            <a:ext cx="2592324" cy="530352"/>
          </a:xfrm>
          <a:prstGeom prst="roundRect">
            <a:avLst>
              <a:gd name="adj" fmla="val 4500"/>
            </a:avLst>
          </a:prstGeom>
          <a:solidFill>
            <a:srgbClr val="263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sz="1700" b="1" i="0">
                <a:solidFill>
                  <a:srgbClr val="D1294B"/>
                </a:solidFill>
                <a:latin typeface="Georgia"/>
              </a:rPr>
              <a:t>B</a:t>
            </a:r>
            <a:r>
              <a:rPr sz="1700" b="1" i="0">
                <a:solidFill>
                  <a:srgbClr val="FFFFFF"/>
                </a:solidFill>
                <a:latin typeface="Georgia"/>
              </a:rPr>
              <a:t>enefit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91656" y="1426463"/>
            <a:ext cx="2226564" cy="31455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1000"/>
              </a:spcAft>
            </a:pPr>
            <a:r>
              <a:rPr sz="1150" b="1" i="0">
                <a:solidFill>
                  <a:srgbClr val="D1294B"/>
                </a:solidFill>
                <a:latin typeface="Arial"/>
              </a:rPr>
              <a:t>▸  </a:t>
            </a:r>
            <a:r>
              <a:rPr sz="1150" b="0" i="0">
                <a:solidFill>
                  <a:srgbClr val="263A4E"/>
                </a:solidFill>
                <a:latin typeface="Arial"/>
              </a:rPr>
              <a:t>+€997 profit and 11% less waste vs. the bakery's own baseline (walk-forward backtest).</a:t>
            </a:r>
          </a:p>
          <a:p>
            <a:pPr algn="l">
              <a:lnSpc>
                <a:spcPct val="112000"/>
              </a:lnSpc>
              <a:spcAft>
                <a:spcPts val="1000"/>
              </a:spcAft>
            </a:pPr>
            <a:r>
              <a:rPr sz="1150" b="1" i="0">
                <a:solidFill>
                  <a:srgbClr val="D1294B"/>
                </a:solidFill>
                <a:latin typeface="Arial"/>
              </a:rPr>
              <a:t>▸  </a:t>
            </a:r>
            <a:r>
              <a:rPr sz="1150" b="0" i="0">
                <a:solidFill>
                  <a:srgbClr val="263A4E"/>
                </a:solidFill>
                <a:latin typeface="Arial"/>
              </a:rPr>
              <a:t>An 11:00 intraday check-in recovers ≈€1,154/week across the chain.</a:t>
            </a:r>
          </a:p>
          <a:p>
            <a:pPr algn="l">
              <a:lnSpc>
                <a:spcPct val="112000"/>
              </a:lnSpc>
              <a:spcAft>
                <a:spcPts val="1000"/>
              </a:spcAft>
            </a:pPr>
            <a:r>
              <a:rPr sz="1150" b="1" i="0">
                <a:solidFill>
                  <a:srgbClr val="D1294B"/>
                </a:solidFill>
                <a:latin typeface="Arial"/>
              </a:rPr>
              <a:t>▸  </a:t>
            </a:r>
            <a:r>
              <a:rPr sz="1150" b="0" i="0">
                <a:solidFill>
                  <a:srgbClr val="263A4E"/>
                </a:solidFill>
                <a:latin typeface="Arial"/>
              </a:rPr>
              <a:t>Every recommendation is expressed in euros — the unit the owner already thinks in.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029699" y="713232"/>
            <a:ext cx="2592324" cy="4041648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9029699" y="713232"/>
            <a:ext cx="2592324" cy="530352"/>
          </a:xfrm>
          <a:prstGeom prst="roundRect">
            <a:avLst>
              <a:gd name="adj" fmla="val 4500"/>
            </a:avLst>
          </a:prstGeom>
          <a:solidFill>
            <a:srgbClr val="263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sz="1700" b="1" i="0">
                <a:solidFill>
                  <a:srgbClr val="D1294B"/>
                </a:solidFill>
                <a:latin typeface="Georgia"/>
              </a:rPr>
              <a:t>C</a:t>
            </a:r>
            <a:r>
              <a:rPr sz="1700" b="1" i="0">
                <a:solidFill>
                  <a:srgbClr val="FFFFFF"/>
                </a:solidFill>
                <a:latin typeface="Georgia"/>
              </a:rPr>
              <a:t>ompetition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212579" y="1426463"/>
            <a:ext cx="2226564" cy="31455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1000"/>
              </a:spcAft>
            </a:pPr>
            <a:r>
              <a:rPr sz="1150" b="1" i="0">
                <a:solidFill>
                  <a:srgbClr val="D1294B"/>
                </a:solidFill>
                <a:latin typeface="Arial"/>
              </a:rPr>
              <a:t>▸  </a:t>
            </a:r>
            <a:r>
              <a:rPr sz="1150" b="0" i="0">
                <a:solidFill>
                  <a:srgbClr val="263A4E"/>
                </a:solidFill>
                <a:latin typeface="Arial"/>
              </a:rPr>
              <a:t>Enterprise ERP forecasting — accurate but too heavy/expensive for a 2-4 site chain.</a:t>
            </a:r>
          </a:p>
          <a:p>
            <a:pPr algn="l">
              <a:lnSpc>
                <a:spcPct val="112000"/>
              </a:lnSpc>
              <a:spcAft>
                <a:spcPts val="1000"/>
              </a:spcAft>
            </a:pPr>
            <a:r>
              <a:rPr sz="1150" b="1" i="0">
                <a:solidFill>
                  <a:srgbClr val="D1294B"/>
                </a:solidFill>
                <a:latin typeface="Arial"/>
              </a:rPr>
              <a:t>▸  </a:t>
            </a:r>
            <a:r>
              <a:rPr sz="1150" b="0" i="0">
                <a:solidFill>
                  <a:srgbClr val="263A4E"/>
                </a:solidFill>
                <a:latin typeface="Arial"/>
              </a:rPr>
              <a:t>Generic single-site tools — no cross-site reallocation, no baker-friendly interface.</a:t>
            </a:r>
          </a:p>
          <a:p>
            <a:pPr algn="l">
              <a:lnSpc>
                <a:spcPct val="112000"/>
              </a:lnSpc>
              <a:spcAft>
                <a:spcPts val="1000"/>
              </a:spcAft>
            </a:pPr>
            <a:r>
              <a:rPr sz="1150" b="1" i="0">
                <a:solidFill>
                  <a:srgbClr val="D1294B"/>
                </a:solidFill>
                <a:latin typeface="Arial"/>
              </a:rPr>
              <a:t>▸  </a:t>
            </a:r>
            <a:r>
              <a:rPr sz="1150" b="0" i="0">
                <a:solidFill>
                  <a:srgbClr val="263A4E"/>
                </a:solidFill>
                <a:latin typeface="Arial"/>
              </a:rPr>
              <a:t>Today's real alternative: gut feel + yesterday's leftovers.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66928" y="4956048"/>
            <a:ext cx="5413248" cy="1170432"/>
          </a:xfrm>
          <a:prstGeom prst="roundRect">
            <a:avLst>
              <a:gd name="adj" fmla="val 7000"/>
            </a:avLst>
          </a:prstGeom>
          <a:solidFill>
            <a:srgbClr val="F6F3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" y="5138928"/>
            <a:ext cx="4901183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D1294B"/>
                </a:solidFill>
                <a:latin typeface="Arial"/>
              </a:rPr>
              <a:t>Why is this a good space?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5458968"/>
            <a:ext cx="4901183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0">
                <a:solidFill>
                  <a:srgbClr val="263A4E"/>
                </a:solidFill>
                <a:latin typeface="Arial"/>
              </a:rPr>
              <a:t>Solo-bakery tools optimize one site; ERP suites are too heavy for 2-4 sites.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08776" y="4956048"/>
            <a:ext cx="5413248" cy="1170432"/>
          </a:xfrm>
          <a:prstGeom prst="roundRect">
            <a:avLst>
              <a:gd name="adj" fmla="val 7000"/>
            </a:avLst>
          </a:prstGeom>
          <a:solidFill>
            <a:srgbClr val="F6F3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64808" y="5138928"/>
            <a:ext cx="4901183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D1294B"/>
                </a:solidFill>
                <a:latin typeface="Arial"/>
              </a:rPr>
              <a:t>How will you win: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64808" y="5458968"/>
            <a:ext cx="4901183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0">
                <a:solidFill>
                  <a:srgbClr val="263A4E"/>
                </a:solidFill>
                <a:latin typeface="Arial"/>
              </a:rPr>
              <a:t>Win on trust: every number is grounded and verifiable, not a black box.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56032"/>
            <a:ext cx="2743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 spc="300">
                <a:solidFill>
                  <a:srgbClr val="5C7185"/>
                </a:solidFill>
                <a:latin typeface="Arial"/>
              </a:rPr>
              <a:t>OBRADORIQ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66928" y="6473952"/>
            <a:ext cx="11055096" cy="0"/>
          </a:xfrm>
          <a:prstGeom prst="line">
            <a:avLst/>
          </a:prstGeom>
          <a:ln w="9525">
            <a:solidFill>
              <a:srgbClr val="E2DED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10607040" y="6528816"/>
            <a:ext cx="1014984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6E7780"/>
                </a:solidFill>
                <a:latin typeface="Arial"/>
              </a:rPr>
              <a:t>4 / 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03504"/>
            <a:ext cx="1097280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700" b="1" i="0">
                <a:solidFill>
                  <a:srgbClr val="263A4E"/>
                </a:solidFill>
                <a:latin typeface="Georgia"/>
              </a:rPr>
              <a:t>WHAT IS YOUR PROJECT?</a:t>
            </a:r>
          </a:p>
        </p:txBody>
      </p:sp>
      <p:sp>
        <p:nvSpPr>
          <p:cNvPr id="6" name="Rectangle 5"/>
          <p:cNvSpPr/>
          <p:nvPr/>
        </p:nvSpPr>
        <p:spPr>
          <a:xfrm>
            <a:off x="576072" y="1110996"/>
            <a:ext cx="960120" cy="29260"/>
          </a:xfrm>
          <a:prstGeom prst="rect">
            <a:avLst/>
          </a:prstGeom>
          <a:solidFill>
            <a:srgbClr val="D129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66928" y="1627632"/>
            <a:ext cx="45720" cy="841248"/>
          </a:xfrm>
          <a:prstGeom prst="rect">
            <a:avLst/>
          </a:prstGeom>
          <a:solidFill>
            <a:srgbClr val="D129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627632"/>
            <a:ext cx="612648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 spc="150">
                <a:solidFill>
                  <a:srgbClr val="D1294B"/>
                </a:solidFill>
                <a:latin typeface="Arial"/>
              </a:rPr>
              <a:t>PROBLEM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1901952"/>
            <a:ext cx="612648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200" b="0" i="0">
                <a:solidFill>
                  <a:srgbClr val="263A4E"/>
                </a:solidFill>
                <a:latin typeface="Arial"/>
              </a:rPr>
              <a:t>A small chain over-produces at one shop while a sister shop sells out — waste is money already spent, stockouts are margin left on the floor, and no one can see the imbalance.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2852928"/>
            <a:ext cx="45720" cy="1170432"/>
          </a:xfrm>
          <a:prstGeom prst="rect">
            <a:avLst/>
          </a:prstGeom>
          <a:solidFill>
            <a:srgbClr val="263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2852928"/>
            <a:ext cx="612648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 spc="150">
                <a:solidFill>
                  <a:srgbClr val="263A4E"/>
                </a:solidFill>
                <a:latin typeface="Arial"/>
              </a:rPr>
              <a:t>SOLUTION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3127248"/>
            <a:ext cx="6126480" cy="8961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200" b="0" i="0">
                <a:solidFill>
                  <a:srgbClr val="263A4E"/>
                </a:solidFill>
                <a:latin typeface="Arial"/>
              </a:rPr>
              <a:t>An AI operations partner that gives each site a daily bake plan grounded in a profit-optimal forecast, suggests shifting planned production between sites, and answers plain-language questions through an agent that can only phrase numbers the recommender core computed.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66928" y="4407408"/>
            <a:ext cx="45720" cy="1005840"/>
          </a:xfrm>
          <a:prstGeom prst="rect">
            <a:avLst/>
          </a:prstGeom>
          <a:solidFill>
            <a:srgbClr val="2E7D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4407408"/>
            <a:ext cx="612648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 spc="150">
                <a:solidFill>
                  <a:srgbClr val="2E7D4F"/>
                </a:solidFill>
                <a:latin typeface="Arial"/>
              </a:rPr>
              <a:t>VALIDATION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4681728"/>
            <a:ext cx="61264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200" b="0" i="0">
                <a:solidFill>
                  <a:srgbClr val="263A4E"/>
                </a:solidFill>
                <a:latin typeface="Arial"/>
              </a:rPr>
              <a:t>Built &amp; tested (100+ backend tests, CI green); backtested against real historical Madrid weather + holidays: +€997 profit and 11% less waste vs. the bakery's own baseline. Live at obradoriq.onrender.com.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0" y="1554480"/>
            <a:ext cx="4297680" cy="96926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7479792" y="1810512"/>
            <a:ext cx="457200" cy="457200"/>
          </a:xfrm>
          <a:prstGeom prst="ellipse">
            <a:avLst/>
          </a:prstGeom>
          <a:solidFill>
            <a:srgbClr val="D129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92440" y="1682495"/>
            <a:ext cx="338328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 spc="120">
                <a:solidFill>
                  <a:srgbClr val="263A4E"/>
                </a:solidFill>
                <a:latin typeface="Arial"/>
              </a:rPr>
              <a:t>INGEST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92440" y="1938528"/>
            <a:ext cx="3383280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 i="0">
                <a:solidFill>
                  <a:srgbClr val="5C7185"/>
                </a:solidFill>
                <a:latin typeface="Arial"/>
              </a:rPr>
              <a:t>Daily sales + waste per site (CSV/paste), tagged with weather &amp; holiday.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9464040" y="2542032"/>
            <a:ext cx="0" cy="219456"/>
          </a:xfrm>
          <a:prstGeom prst="line">
            <a:avLst/>
          </a:prstGeom>
          <a:ln w="15875">
            <a:solidFill>
              <a:srgbClr val="5C7185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7315200" y="2779776"/>
            <a:ext cx="4297680" cy="96926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7479792" y="3035808"/>
            <a:ext cx="457200" cy="457200"/>
          </a:xfrm>
          <a:prstGeom prst="ellipse">
            <a:avLst/>
          </a:prstGeom>
          <a:solidFill>
            <a:srgbClr val="D129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92440" y="2907792"/>
            <a:ext cx="338328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 spc="120">
                <a:solidFill>
                  <a:srgbClr val="263A4E"/>
                </a:solidFill>
                <a:latin typeface="Arial"/>
              </a:rPr>
              <a:t>PLAN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092440" y="3163824"/>
            <a:ext cx="3383280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 i="0">
                <a:solidFill>
                  <a:srgbClr val="5C7185"/>
                </a:solidFill>
                <a:latin typeface="Arial"/>
              </a:rPr>
              <a:t>Newsvendor-optimal bake quantity per product, expressed in € of waste avoided.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9464040" y="3767327"/>
            <a:ext cx="0" cy="219457"/>
          </a:xfrm>
          <a:prstGeom prst="line">
            <a:avLst/>
          </a:prstGeom>
          <a:ln w="15875">
            <a:solidFill>
              <a:srgbClr val="5C7185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7315200" y="4005072"/>
            <a:ext cx="4297680" cy="96926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7479792" y="4261104"/>
            <a:ext cx="457200" cy="457200"/>
          </a:xfrm>
          <a:prstGeom prst="ellipse">
            <a:avLst/>
          </a:prstGeom>
          <a:solidFill>
            <a:srgbClr val="D129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092440" y="4133087"/>
            <a:ext cx="338328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 spc="120">
                <a:solidFill>
                  <a:srgbClr val="263A4E"/>
                </a:solidFill>
                <a:latin typeface="Arial"/>
              </a:rPr>
              <a:t>REALLOCATE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092440" y="4389120"/>
            <a:ext cx="3383280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 i="0">
                <a:solidFill>
                  <a:srgbClr val="5C7185"/>
                </a:solidFill>
                <a:latin typeface="Arial"/>
              </a:rPr>
              <a:t>Shift planned production from a chronic over-producer to a sell-out sibling site.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9464040" y="4992623"/>
            <a:ext cx="0" cy="219457"/>
          </a:xfrm>
          <a:prstGeom prst="line">
            <a:avLst/>
          </a:prstGeom>
          <a:ln w="15875">
            <a:solidFill>
              <a:srgbClr val="5C7185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ounded Rectangle 30"/>
          <p:cNvSpPr/>
          <p:nvPr/>
        </p:nvSpPr>
        <p:spPr>
          <a:xfrm>
            <a:off x="7315200" y="5230368"/>
            <a:ext cx="4297680" cy="96926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7479792" y="5486400"/>
            <a:ext cx="457200" cy="457200"/>
          </a:xfrm>
          <a:prstGeom prst="ellipse">
            <a:avLst/>
          </a:prstGeom>
          <a:solidFill>
            <a:srgbClr val="D129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092440" y="5358384"/>
            <a:ext cx="338328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 spc="120">
                <a:solidFill>
                  <a:srgbClr val="263A4E"/>
                </a:solidFill>
                <a:latin typeface="Arial"/>
              </a:rPr>
              <a:t>DECIDE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092440" y="5614416"/>
            <a:ext cx="3383280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 i="0">
                <a:solidFill>
                  <a:srgbClr val="5C7185"/>
                </a:solidFill>
                <a:latin typeface="Arial"/>
              </a:rPr>
              <a:t>Owner accepts / edits / rejects — every decision logged.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56032"/>
            <a:ext cx="2743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 spc="300">
                <a:solidFill>
                  <a:srgbClr val="5C7185"/>
                </a:solidFill>
                <a:latin typeface="Arial"/>
              </a:rPr>
              <a:t>OBRADORIQ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66928" y="6473952"/>
            <a:ext cx="11055096" cy="0"/>
          </a:xfrm>
          <a:prstGeom prst="line">
            <a:avLst/>
          </a:prstGeom>
          <a:ln w="9525">
            <a:solidFill>
              <a:srgbClr val="E2DED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10607040" y="6528816"/>
            <a:ext cx="1014984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6E7780"/>
                </a:solidFill>
                <a:latin typeface="Arial"/>
              </a:rPr>
              <a:t>5 / 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03504"/>
            <a:ext cx="1097280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300" b="1" i="0">
                <a:solidFill>
                  <a:srgbClr val="263A4E"/>
                </a:solidFill>
                <a:latin typeface="Georgia"/>
              </a:rPr>
              <a:t>ASK OBRADORIQ — THE CONVERSATIONAL AGENT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576072" y="1060196"/>
            <a:ext cx="960120" cy="29260"/>
          </a:xfrm>
          <a:prstGeom prst="rect">
            <a:avLst/>
          </a:prstGeom>
          <a:solidFill>
            <a:srgbClr val="D129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66928" y="1481328"/>
            <a:ext cx="5074920" cy="2395728"/>
          </a:xfrm>
          <a:prstGeom prst="roundRect">
            <a:avLst>
              <a:gd name="adj" fmla="val 6000"/>
            </a:avLst>
          </a:prstGeom>
          <a:solidFill>
            <a:srgbClr val="F6F3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4672" y="1682496"/>
            <a:ext cx="4599431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63A4E"/>
                </a:solidFill>
                <a:latin typeface="Arial"/>
              </a:rPr>
              <a:t>What the owner needs from it: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2" y="2048256"/>
            <a:ext cx="4599431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900"/>
              </a:spcAft>
            </a:pPr>
            <a:r>
              <a:rPr sz="1150" b="1" i="0">
                <a:solidFill>
                  <a:srgbClr val="D1294B"/>
                </a:solidFill>
                <a:latin typeface="Arial"/>
              </a:rPr>
              <a:t>▸  </a:t>
            </a:r>
            <a:r>
              <a:rPr sz="1150" b="0" i="0">
                <a:solidFill>
                  <a:srgbClr val="263A4E"/>
                </a:solidFill>
                <a:latin typeface="Arial"/>
              </a:rPr>
              <a:t>Tomorrow's bake list, in euros — not statistics</a:t>
            </a:r>
          </a:p>
          <a:p>
            <a:pPr algn="l">
              <a:lnSpc>
                <a:spcPct val="110000"/>
              </a:lnSpc>
              <a:spcAft>
                <a:spcPts val="900"/>
              </a:spcAft>
            </a:pPr>
            <a:r>
              <a:rPr sz="1150" b="1" i="0">
                <a:solidFill>
                  <a:srgbClr val="D1294B"/>
                </a:solidFill>
                <a:latin typeface="Arial"/>
              </a:rPr>
              <a:t>▸  </a:t>
            </a:r>
            <a:r>
              <a:rPr sz="1150" b="0" i="0">
                <a:solidFill>
                  <a:srgbClr val="263A4E"/>
                </a:solidFill>
                <a:latin typeface="Arial"/>
              </a:rPr>
              <a:t>Plain-language answers to context no model can know</a:t>
            </a:r>
          </a:p>
          <a:p>
            <a:pPr algn="l">
              <a:lnSpc>
                <a:spcPct val="110000"/>
              </a:lnSpc>
              <a:spcAft>
                <a:spcPts val="900"/>
              </a:spcAft>
            </a:pPr>
            <a:r>
              <a:rPr sz="1150" b="1" i="0">
                <a:solidFill>
                  <a:srgbClr val="D1294B"/>
                </a:solidFill>
                <a:latin typeface="Arial"/>
              </a:rPr>
              <a:t>▸  </a:t>
            </a:r>
            <a:r>
              <a:rPr sz="1150" b="0" i="0">
                <a:solidFill>
                  <a:srgbClr val="263A4E"/>
                </a:solidFill>
                <a:latin typeface="Arial"/>
              </a:rPr>
              <a:t>One-click approve / edit / reject — owner always decides</a:t>
            </a:r>
          </a:p>
          <a:p>
            <a:pPr algn="l">
              <a:lnSpc>
                <a:spcPct val="110000"/>
              </a:lnSpc>
              <a:spcAft>
                <a:spcPts val="900"/>
              </a:spcAft>
            </a:pPr>
            <a:r>
              <a:rPr sz="1150" b="1" i="0">
                <a:solidFill>
                  <a:srgbClr val="D1294B"/>
                </a:solidFill>
                <a:latin typeface="Arial"/>
              </a:rPr>
              <a:t>▸  </a:t>
            </a:r>
            <a:r>
              <a:rPr sz="1150" b="0" i="0">
                <a:solidFill>
                  <a:srgbClr val="263A4E"/>
                </a:solidFill>
                <a:latin typeface="Arial"/>
              </a:rPr>
              <a:t>Never a fabricated number — every figure is grounded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4114800"/>
            <a:ext cx="507492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 spc="150">
                <a:solidFill>
                  <a:srgbClr val="D1294B"/>
                </a:solidFill>
                <a:latin typeface="Arial"/>
              </a:rPr>
              <a:t>KEY TASK: ASKING OBRADORIQ A QUESTION</a:t>
            </a:r>
          </a:p>
        </p:txBody>
      </p:sp>
      <p:sp>
        <p:nvSpPr>
          <p:cNvPr id="11" name="Oval 10"/>
          <p:cNvSpPr/>
          <p:nvPr/>
        </p:nvSpPr>
        <p:spPr>
          <a:xfrm>
            <a:off x="566928" y="4462272"/>
            <a:ext cx="274320" cy="274320"/>
          </a:xfrm>
          <a:prstGeom prst="ellipse">
            <a:avLst/>
          </a:prstGeom>
          <a:solidFill>
            <a:srgbClr val="263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9264" y="4475988"/>
            <a:ext cx="4672583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 i="0">
                <a:solidFill>
                  <a:srgbClr val="263A4E"/>
                </a:solidFill>
                <a:latin typeface="Arial"/>
              </a:rPr>
              <a:t>Owner asks a question in plain language.</a:t>
            </a:r>
          </a:p>
        </p:txBody>
      </p:sp>
      <p:sp>
        <p:nvSpPr>
          <p:cNvPr id="13" name="Oval 12"/>
          <p:cNvSpPr/>
          <p:nvPr/>
        </p:nvSpPr>
        <p:spPr>
          <a:xfrm>
            <a:off x="566928" y="4974336"/>
            <a:ext cx="274320" cy="274320"/>
          </a:xfrm>
          <a:prstGeom prst="ellipse">
            <a:avLst/>
          </a:prstGeom>
          <a:solidFill>
            <a:srgbClr val="263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9264" y="4988051"/>
            <a:ext cx="4672583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 i="0">
                <a:solidFill>
                  <a:srgbClr val="263A4E"/>
                </a:solidFill>
                <a:latin typeface="Arial"/>
              </a:rPr>
              <a:t>Agent calls the forecast + newsvendor models as tools.</a:t>
            </a:r>
          </a:p>
        </p:txBody>
      </p:sp>
      <p:sp>
        <p:nvSpPr>
          <p:cNvPr id="15" name="Oval 14"/>
          <p:cNvSpPr/>
          <p:nvPr/>
        </p:nvSpPr>
        <p:spPr>
          <a:xfrm>
            <a:off x="566928" y="5486400"/>
            <a:ext cx="274320" cy="274320"/>
          </a:xfrm>
          <a:prstGeom prst="ellipse">
            <a:avLst/>
          </a:prstGeom>
          <a:solidFill>
            <a:srgbClr val="263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9264" y="5500116"/>
            <a:ext cx="4672583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 i="0">
                <a:solidFill>
                  <a:srgbClr val="263A4E"/>
                </a:solidFill>
                <a:latin typeface="Arial"/>
              </a:rPr>
              <a:t>Trust Layer grounds the reply — rejected if a number doesn't match the math.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66928" y="6053328"/>
            <a:ext cx="5074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1">
                <a:solidFill>
                  <a:srgbClr val="6E7780"/>
                </a:solidFill>
                <a:latin typeface="Arial"/>
              </a:rPr>
              <a:t>Rehearsed live with the class; next: validate with 2-3 real bakery owners.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035040" y="1481328"/>
            <a:ext cx="5586984" cy="2743200"/>
          </a:xfrm>
          <a:prstGeom prst="roundRect">
            <a:avLst>
              <a:gd name="adj" fmla="val 6000"/>
            </a:avLst>
          </a:prstGeom>
          <a:solidFill>
            <a:srgbClr val="F6F3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272783" y="1645920"/>
            <a:ext cx="5111496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 i="0" spc="150">
                <a:solidFill>
                  <a:srgbClr val="5C7185"/>
                </a:solidFill>
                <a:latin typeface="Arial"/>
              </a:rPr>
              <a:t>Sample exchange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818120" y="1993392"/>
            <a:ext cx="3566160" cy="566928"/>
          </a:xfrm>
          <a:prstGeom prst="roundRect">
            <a:avLst>
              <a:gd name="adj" fmla="val 30000"/>
            </a:avLst>
          </a:prstGeom>
          <a:solidFill>
            <a:srgbClr val="263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l"/>
            <a:r>
              <a:rPr sz="1150" b="0" i="0">
                <a:solidFill>
                  <a:srgbClr val="FFFFFF"/>
                </a:solidFill>
                <a:latin typeface="Arial"/>
              </a:rPr>
              <a:t>"We have a street festival on Saturday."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72783" y="2743200"/>
            <a:ext cx="4114800" cy="1170432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l">
              <a:lnSpc>
                <a:spcPct val="112000"/>
              </a:lnSpc>
            </a:pPr>
            <a:r>
              <a:rPr sz="1150" b="0" i="0">
                <a:solidFill>
                  <a:srgbClr val="263A4E"/>
                </a:solidFill>
                <a:latin typeface="Arial"/>
              </a:rPr>
              <a:t>I'll bump Saturday's forecast +18% for that line — flagged as an explicit adjustment, not a guess.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035040" y="4517136"/>
            <a:ext cx="2468880" cy="122529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199631" y="4645152"/>
            <a:ext cx="2139696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 i="0" spc="200">
                <a:solidFill>
                  <a:srgbClr val="D1294B"/>
                </a:solidFill>
                <a:latin typeface="Arial"/>
              </a:rPr>
              <a:t>INPUT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199631" y="4919472"/>
            <a:ext cx="2139696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 i="0">
                <a:solidFill>
                  <a:srgbClr val="263A4E"/>
                </a:solidFill>
                <a:latin typeface="Arial"/>
              </a:rPr>
              <a:t>"We have a street festival Saturday"</a:t>
            </a:r>
          </a:p>
        </p:txBody>
      </p:sp>
      <p:sp>
        <p:nvSpPr>
          <p:cNvPr id="25" name="Right Arrow 24"/>
          <p:cNvSpPr/>
          <p:nvPr/>
        </p:nvSpPr>
        <p:spPr>
          <a:xfrm>
            <a:off x="8577072" y="5029200"/>
            <a:ext cx="320040" cy="201168"/>
          </a:xfrm>
          <a:prstGeom prst="rightArrow">
            <a:avLst/>
          </a:prstGeom>
          <a:solidFill>
            <a:srgbClr val="D129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8970264" y="4517136"/>
            <a:ext cx="2651760" cy="122529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34856" y="4645152"/>
            <a:ext cx="2322576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 i="0" spc="200">
                <a:solidFill>
                  <a:srgbClr val="2E7D4F"/>
                </a:solidFill>
                <a:latin typeface="Arial"/>
              </a:rPr>
              <a:t>OUTPUT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34856" y="4919472"/>
            <a:ext cx="2322576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 i="0">
                <a:solidFill>
                  <a:srgbClr val="263A4E"/>
                </a:solidFill>
                <a:latin typeface="Arial"/>
              </a:rPr>
              <a:t>Attributed demand_adjustment_pct + grounded bake numbers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56032"/>
            <a:ext cx="2743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 spc="300">
                <a:solidFill>
                  <a:srgbClr val="5C7185"/>
                </a:solidFill>
                <a:latin typeface="Arial"/>
              </a:rPr>
              <a:t>OBRADORIQ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66928" y="6473952"/>
            <a:ext cx="11055096" cy="0"/>
          </a:xfrm>
          <a:prstGeom prst="line">
            <a:avLst/>
          </a:prstGeom>
          <a:ln w="9525">
            <a:solidFill>
              <a:srgbClr val="E2DED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10607040" y="6528816"/>
            <a:ext cx="1014984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6E7780"/>
                </a:solidFill>
                <a:latin typeface="Arial"/>
              </a:rPr>
              <a:t>6 / 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03504"/>
            <a:ext cx="1097280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 i="0">
                <a:solidFill>
                  <a:srgbClr val="263A4E"/>
                </a:solidFill>
                <a:latin typeface="Georgia"/>
              </a:rPr>
              <a:t>TECHNICAL COMPONENTS OF PROJECT</a:t>
            </a:r>
          </a:p>
        </p:txBody>
      </p:sp>
      <p:sp>
        <p:nvSpPr>
          <p:cNvPr id="6" name="Rectangle 5"/>
          <p:cNvSpPr/>
          <p:nvPr/>
        </p:nvSpPr>
        <p:spPr>
          <a:xfrm>
            <a:off x="576072" y="1098296"/>
            <a:ext cx="960120" cy="29260"/>
          </a:xfrm>
          <a:prstGeom prst="rect">
            <a:avLst/>
          </a:prstGeom>
          <a:solidFill>
            <a:srgbClr val="D129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1244599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5C7185"/>
                </a:solidFill>
                <a:latin typeface="Arial"/>
              </a:rPr>
              <a:t>Top Components Required for the Project in Order of Importance</a:t>
            </a:r>
          </a:p>
        </p:txBody>
      </p:sp>
      <p:sp>
        <p:nvSpPr>
          <p:cNvPr id="8" name="Oval 7"/>
          <p:cNvSpPr/>
          <p:nvPr/>
        </p:nvSpPr>
        <p:spPr>
          <a:xfrm>
            <a:off x="7406640" y="969264"/>
            <a:ext cx="118872" cy="118872"/>
          </a:xfrm>
          <a:prstGeom prst="ellipse">
            <a:avLst/>
          </a:prstGeom>
          <a:solidFill>
            <a:srgbClr val="2E7D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00" b="1">
                <a:solidFill>
                  <a:srgbClr val="FFFFFF"/>
                </a:solidFill>
                <a:latin typeface="Arial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89519" y="940003"/>
            <a:ext cx="13716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5C7185"/>
                </a:solidFill>
                <a:latin typeface="Arial"/>
              </a:rPr>
              <a:t>built</a:t>
            </a:r>
          </a:p>
        </p:txBody>
      </p:sp>
      <p:sp>
        <p:nvSpPr>
          <p:cNvPr id="10" name="Oval 9"/>
          <p:cNvSpPr/>
          <p:nvPr/>
        </p:nvSpPr>
        <p:spPr>
          <a:xfrm>
            <a:off x="8503920" y="969264"/>
            <a:ext cx="118872" cy="118872"/>
          </a:xfrm>
          <a:prstGeom prst="ellipse">
            <a:avLst/>
          </a:prstGeom>
          <a:solidFill>
            <a:srgbClr val="DF99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00" b="1">
                <a:solidFill>
                  <a:srgbClr val="FFFFFF"/>
                </a:solidFill>
                <a:latin typeface="Arial"/>
              </a:rPr>
              <a:t/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0" y="940003"/>
            <a:ext cx="13716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5C7185"/>
                </a:solidFill>
                <a:latin typeface="Arial"/>
              </a:rPr>
              <a:t>in progress</a:t>
            </a:r>
          </a:p>
        </p:txBody>
      </p:sp>
      <p:sp>
        <p:nvSpPr>
          <p:cNvPr id="12" name="Oval 11"/>
          <p:cNvSpPr/>
          <p:nvPr/>
        </p:nvSpPr>
        <p:spPr>
          <a:xfrm>
            <a:off x="10314432" y="969264"/>
            <a:ext cx="118872" cy="118872"/>
          </a:xfrm>
          <a:prstGeom prst="ellipse">
            <a:avLst/>
          </a:prstGeom>
          <a:solidFill>
            <a:srgbClr val="D129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00" b="1">
                <a:solidFill>
                  <a:srgbClr val="FFFFFF"/>
                </a:solidFill>
                <a:latin typeface="Arial"/>
              </a:rPr>
              <a:t/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497312" y="940003"/>
            <a:ext cx="13716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5C7185"/>
                </a:solidFill>
                <a:latin typeface="Arial"/>
              </a:rPr>
              <a:t>open dependency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66928" y="1938528"/>
            <a:ext cx="11055096" cy="512064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" y="2080260"/>
            <a:ext cx="4572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5C7185"/>
                </a:solidFill>
                <a:latin typeface="Arial"/>
              </a:rPr>
              <a:t>01</a:t>
            </a:r>
          </a:p>
        </p:txBody>
      </p:sp>
      <p:sp>
        <p:nvSpPr>
          <p:cNvPr id="16" name="Oval 15"/>
          <p:cNvSpPr/>
          <p:nvPr/>
        </p:nvSpPr>
        <p:spPr>
          <a:xfrm>
            <a:off x="1371600" y="2125980"/>
            <a:ext cx="137160" cy="137160"/>
          </a:xfrm>
          <a:prstGeom prst="ellipse">
            <a:avLst/>
          </a:prstGeom>
          <a:solidFill>
            <a:srgbClr val="2E7D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00" b="1">
                <a:solidFill>
                  <a:srgbClr val="FFFFFF"/>
                </a:solidFill>
                <a:latin typeface="Arial"/>
              </a:rPr>
              <a:t/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91640" y="2066544"/>
            <a:ext cx="9692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0" i="0">
                <a:solidFill>
                  <a:srgbClr val="263A4E"/>
                </a:solidFill>
                <a:latin typeface="Arial"/>
              </a:rPr>
              <a:t>React dashboard (built static, served by FastAPI)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66928" y="2537460"/>
            <a:ext cx="11055096" cy="512064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" y="2679192"/>
            <a:ext cx="4572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5C7185"/>
                </a:solidFill>
                <a:latin typeface="Arial"/>
              </a:rPr>
              <a:t>02</a:t>
            </a:r>
          </a:p>
        </p:txBody>
      </p:sp>
      <p:sp>
        <p:nvSpPr>
          <p:cNvPr id="20" name="Oval 19"/>
          <p:cNvSpPr/>
          <p:nvPr/>
        </p:nvSpPr>
        <p:spPr>
          <a:xfrm>
            <a:off x="1371600" y="2724912"/>
            <a:ext cx="137160" cy="137160"/>
          </a:xfrm>
          <a:prstGeom prst="ellipse">
            <a:avLst/>
          </a:prstGeom>
          <a:solidFill>
            <a:srgbClr val="2E7D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00" b="1">
                <a:solidFill>
                  <a:srgbClr val="FFFFFF"/>
                </a:solidFill>
                <a:latin typeface="Arial"/>
              </a:rPr>
              <a:t/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91640" y="2665476"/>
            <a:ext cx="9692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0" i="0">
                <a:solidFill>
                  <a:srgbClr val="263A4E"/>
                </a:solidFill>
                <a:latin typeface="Arial"/>
              </a:rPr>
              <a:t>Recommender core — weather/holiday-aware forecast + newsvendor optimizer (the IP)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66928" y="3136392"/>
            <a:ext cx="11055096" cy="512064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2960" y="3278124"/>
            <a:ext cx="4572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5C7185"/>
                </a:solidFill>
                <a:latin typeface="Arial"/>
              </a:rPr>
              <a:t>03</a:t>
            </a:r>
          </a:p>
        </p:txBody>
      </p:sp>
      <p:sp>
        <p:nvSpPr>
          <p:cNvPr id="24" name="Oval 23"/>
          <p:cNvSpPr/>
          <p:nvPr/>
        </p:nvSpPr>
        <p:spPr>
          <a:xfrm>
            <a:off x="1371600" y="3323844"/>
            <a:ext cx="137160" cy="137160"/>
          </a:xfrm>
          <a:prstGeom prst="ellipse">
            <a:avLst/>
          </a:prstGeom>
          <a:solidFill>
            <a:srgbClr val="2E7D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00" b="1">
                <a:solidFill>
                  <a:srgbClr val="FFFFFF"/>
                </a:solidFill>
                <a:latin typeface="Arial"/>
              </a:rPr>
              <a:t/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691640" y="3264408"/>
            <a:ext cx="9692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0" i="0">
                <a:solidFill>
                  <a:srgbClr val="263A4E"/>
                </a:solidFill>
                <a:latin typeface="Arial"/>
              </a:rPr>
              <a:t>Cross-site reallocation engine — the differentiator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66928" y="3735324"/>
            <a:ext cx="11055096" cy="512064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2960" y="3877056"/>
            <a:ext cx="4572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5C7185"/>
                </a:solidFill>
                <a:latin typeface="Arial"/>
              </a:rPr>
              <a:t>04</a:t>
            </a:r>
          </a:p>
        </p:txBody>
      </p:sp>
      <p:sp>
        <p:nvSpPr>
          <p:cNvPr id="28" name="Oval 27"/>
          <p:cNvSpPr/>
          <p:nvPr/>
        </p:nvSpPr>
        <p:spPr>
          <a:xfrm>
            <a:off x="1371600" y="3922776"/>
            <a:ext cx="137160" cy="137160"/>
          </a:xfrm>
          <a:prstGeom prst="ellipse">
            <a:avLst/>
          </a:prstGeom>
          <a:solidFill>
            <a:srgbClr val="2E7D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00" b="1">
                <a:solidFill>
                  <a:srgbClr val="FFFFFF"/>
                </a:solidFill>
                <a:latin typeface="Arial"/>
              </a:rPr>
              <a:t/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691640" y="3863339"/>
            <a:ext cx="9692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0" i="0">
                <a:solidFill>
                  <a:srgbClr val="263A4E"/>
                </a:solidFill>
                <a:latin typeface="Arial"/>
              </a:rPr>
              <a:t>Trust Layer — masks, grounds, scores &amp; audits every LLM output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66928" y="4334256"/>
            <a:ext cx="11055096" cy="512064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22960" y="4475988"/>
            <a:ext cx="4572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5C7185"/>
                </a:solidFill>
                <a:latin typeface="Arial"/>
              </a:rPr>
              <a:t>05</a:t>
            </a:r>
          </a:p>
        </p:txBody>
      </p:sp>
      <p:sp>
        <p:nvSpPr>
          <p:cNvPr id="32" name="Oval 31"/>
          <p:cNvSpPr/>
          <p:nvPr/>
        </p:nvSpPr>
        <p:spPr>
          <a:xfrm>
            <a:off x="1371600" y="4521708"/>
            <a:ext cx="137160" cy="137160"/>
          </a:xfrm>
          <a:prstGeom prst="ellipse">
            <a:avLst/>
          </a:prstGeom>
          <a:solidFill>
            <a:srgbClr val="DF99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00" b="1">
                <a:solidFill>
                  <a:srgbClr val="FFFFFF"/>
                </a:solidFill>
                <a:latin typeface="Arial"/>
              </a:rPr>
              <a:t/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691640" y="4462272"/>
            <a:ext cx="9692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0" i="0">
                <a:solidFill>
                  <a:srgbClr val="263A4E"/>
                </a:solidFill>
                <a:latin typeface="Arial"/>
              </a:rPr>
              <a:t>LLM agent — tool-calling planner, Opus/Sonnet routing, offline fallback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66928" y="4933188"/>
            <a:ext cx="11055096" cy="512064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22960" y="5074920"/>
            <a:ext cx="4572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5C7185"/>
                </a:solidFill>
                <a:latin typeface="Arial"/>
              </a:rPr>
              <a:t>06</a:t>
            </a:r>
          </a:p>
        </p:txBody>
      </p:sp>
      <p:sp>
        <p:nvSpPr>
          <p:cNvPr id="36" name="Oval 35"/>
          <p:cNvSpPr/>
          <p:nvPr/>
        </p:nvSpPr>
        <p:spPr>
          <a:xfrm>
            <a:off x="1371600" y="5120640"/>
            <a:ext cx="137160" cy="137160"/>
          </a:xfrm>
          <a:prstGeom prst="ellipse">
            <a:avLst/>
          </a:prstGeom>
          <a:solidFill>
            <a:srgbClr val="2E7D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00" b="1">
                <a:solidFill>
                  <a:srgbClr val="FFFFFF"/>
                </a:solidFill>
                <a:latin typeface="Arial"/>
              </a:rPr>
              <a:t/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691640" y="5061204"/>
            <a:ext cx="9692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0" i="0">
                <a:solidFill>
                  <a:srgbClr val="263A4E"/>
                </a:solidFill>
                <a:latin typeface="Arial"/>
              </a:rPr>
              <a:t>PostgreSQL + Docker + Render deploy + GitHub CI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566928" y="5532120"/>
            <a:ext cx="11055096" cy="512064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22960" y="5673852"/>
            <a:ext cx="4572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5C7185"/>
                </a:solidFill>
                <a:latin typeface="Arial"/>
              </a:rPr>
              <a:t>07</a:t>
            </a:r>
          </a:p>
        </p:txBody>
      </p:sp>
      <p:sp>
        <p:nvSpPr>
          <p:cNvPr id="40" name="Oval 39"/>
          <p:cNvSpPr/>
          <p:nvPr/>
        </p:nvSpPr>
        <p:spPr>
          <a:xfrm>
            <a:off x="1371600" y="5719572"/>
            <a:ext cx="137160" cy="137160"/>
          </a:xfrm>
          <a:prstGeom prst="ellipse">
            <a:avLst/>
          </a:prstGeom>
          <a:solidFill>
            <a:srgbClr val="D129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00" b="1">
                <a:solidFill>
                  <a:srgbClr val="FFFFFF"/>
                </a:solidFill>
                <a:latin typeface="Arial"/>
              </a:rPr>
              <a:t/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691640" y="5660136"/>
            <a:ext cx="9692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0" i="0">
                <a:solidFill>
                  <a:srgbClr val="263A4E"/>
                </a:solidFill>
                <a:latin typeface="Arial"/>
              </a:rPr>
              <a:t>Real POS ingestion / real bakery data — open dependency, next milestone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56032"/>
            <a:ext cx="2743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 spc="300">
                <a:solidFill>
                  <a:srgbClr val="5C7185"/>
                </a:solidFill>
                <a:latin typeface="Arial"/>
              </a:rPr>
              <a:t>OBRADORIQ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66928" y="6473952"/>
            <a:ext cx="11055096" cy="0"/>
          </a:xfrm>
          <a:prstGeom prst="line">
            <a:avLst/>
          </a:prstGeom>
          <a:ln w="9525">
            <a:solidFill>
              <a:srgbClr val="E2DED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10607040" y="6528816"/>
            <a:ext cx="1014984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6E7780"/>
                </a:solidFill>
                <a:latin typeface="Arial"/>
              </a:rPr>
              <a:t>7 / 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03504"/>
            <a:ext cx="1097280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 i="0">
                <a:solidFill>
                  <a:srgbClr val="263A4E"/>
                </a:solidFill>
                <a:latin typeface="Georgia"/>
              </a:rPr>
              <a:t>SYSTEM ARCHITECTURE</a:t>
            </a:r>
          </a:p>
        </p:txBody>
      </p:sp>
      <p:sp>
        <p:nvSpPr>
          <p:cNvPr id="6" name="Rectangle 5"/>
          <p:cNvSpPr/>
          <p:nvPr/>
        </p:nvSpPr>
        <p:spPr>
          <a:xfrm>
            <a:off x="576072" y="1098296"/>
            <a:ext cx="960120" cy="29260"/>
          </a:xfrm>
          <a:prstGeom prst="rect">
            <a:avLst/>
          </a:prstGeom>
          <a:solidFill>
            <a:srgbClr val="D129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1244599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5C7185"/>
                </a:solidFill>
                <a:latin typeface="Arial"/>
              </a:rPr>
              <a:t>One FastAPI service: the recommender core computes every number, the Trust Layer grounds it, the LLM only phrases it.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1828800"/>
            <a:ext cx="11055096" cy="530352"/>
          </a:xfrm>
          <a:prstGeom prst="roundRect">
            <a:avLst>
              <a:gd name="adj" fmla="val 10000"/>
            </a:avLst>
          </a:prstGeom>
          <a:solidFill>
            <a:srgbClr val="263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sz="1350" b="1" i="0">
                <a:solidFill>
                  <a:srgbClr val="FFFFFF"/>
                </a:solidFill>
                <a:latin typeface="Arial"/>
              </a:rPr>
              <a:t>REACT DASHBOARD  (built static, served by FastAPI)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094476" y="2386584"/>
            <a:ext cx="0" cy="219456"/>
          </a:xfrm>
          <a:prstGeom prst="line">
            <a:avLst/>
          </a:prstGeom>
          <a:ln w="15875">
            <a:solidFill>
              <a:srgbClr val="5C7185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566928" y="2633472"/>
            <a:ext cx="11055096" cy="457200"/>
          </a:xfrm>
          <a:prstGeom prst="roundRect">
            <a:avLst>
              <a:gd name="adj" fmla="val 10000"/>
            </a:avLst>
          </a:prstGeom>
          <a:solidFill>
            <a:srgbClr val="5C71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sz="1300" b="1" i="0">
                <a:solidFill>
                  <a:srgbClr val="FFFFFF"/>
                </a:solidFill>
                <a:latin typeface="Arial"/>
              </a:rPr>
              <a:t>FASTAPI  —  /api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1863090" y="3118103"/>
            <a:ext cx="0" cy="237745"/>
          </a:xfrm>
          <a:prstGeom prst="line">
            <a:avLst/>
          </a:prstGeom>
          <a:ln w="15875">
            <a:solidFill>
              <a:srgbClr val="5C7185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566928" y="3383279"/>
            <a:ext cx="2592324" cy="1261872"/>
          </a:xfrm>
          <a:prstGeom prst="roundRect">
            <a:avLst>
              <a:gd name="adj" fmla="val 7000"/>
            </a:avLst>
          </a:prstGeom>
          <a:solidFill>
            <a:srgbClr val="263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>
              <a:spcAft>
                <a:spcPts val="400"/>
              </a:spcAft>
            </a:pPr>
            <a:r>
              <a:rPr sz="1350" b="1" i="0">
                <a:solidFill>
                  <a:srgbClr val="FFFFFF"/>
                </a:solidFill>
                <a:latin typeface="Georgia"/>
              </a:rPr>
              <a:t>Orchestrator</a:t>
            </a:r>
          </a:p>
          <a:p>
            <a:pPr algn="ctr">
              <a:lnSpc>
                <a:spcPct val="110000"/>
              </a:lnSpc>
            </a:pPr>
            <a:r>
              <a:rPr sz="1000" b="0" i="0">
                <a:solidFill>
                  <a:srgbClr val="C7D0DA"/>
                </a:solidFill>
                <a:latin typeface="Arial"/>
              </a:rPr>
              <a:t>Opus/Sonnet routing — Forecast · Planning · Reallocation · Reporting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4684014" y="3118103"/>
            <a:ext cx="0" cy="237745"/>
          </a:xfrm>
          <a:prstGeom prst="line">
            <a:avLst/>
          </a:prstGeom>
          <a:ln w="15875">
            <a:solidFill>
              <a:srgbClr val="5C7185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3387852" y="3383279"/>
            <a:ext cx="2592324" cy="1261872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22225">
            <a:solidFill>
              <a:srgbClr val="D129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>
              <a:spcAft>
                <a:spcPts val="400"/>
              </a:spcAft>
            </a:pPr>
            <a:r>
              <a:rPr sz="1350" b="1" i="0">
                <a:solidFill>
                  <a:srgbClr val="D1294B"/>
                </a:solidFill>
                <a:latin typeface="Georgia"/>
              </a:rPr>
              <a:t>Recommender Core</a:t>
            </a:r>
          </a:p>
          <a:p>
            <a:pPr algn="ctr">
              <a:lnSpc>
                <a:spcPct val="110000"/>
              </a:lnSpc>
            </a:pPr>
            <a:r>
              <a:rPr sz="1000" b="0" i="0">
                <a:solidFill>
                  <a:srgbClr val="263A4E"/>
                </a:solidFill>
                <a:latin typeface="Arial"/>
              </a:rPr>
              <a:t>Pure Python — computes every number (the IP)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7504938" y="3118103"/>
            <a:ext cx="0" cy="237745"/>
          </a:xfrm>
          <a:prstGeom prst="line">
            <a:avLst/>
          </a:prstGeom>
          <a:ln w="15875">
            <a:solidFill>
              <a:srgbClr val="5C7185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6208776" y="3383279"/>
            <a:ext cx="2592324" cy="1261872"/>
          </a:xfrm>
          <a:prstGeom prst="roundRect">
            <a:avLst>
              <a:gd name="adj" fmla="val 7000"/>
            </a:avLst>
          </a:prstGeom>
          <a:solidFill>
            <a:srgbClr val="263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>
              <a:spcAft>
                <a:spcPts val="400"/>
              </a:spcAft>
            </a:pPr>
            <a:r>
              <a:rPr sz="1350" b="1" i="0">
                <a:solidFill>
                  <a:srgbClr val="FFFFFF"/>
                </a:solidFill>
                <a:latin typeface="Georgia"/>
              </a:rPr>
              <a:t>Trust Layer</a:t>
            </a:r>
          </a:p>
          <a:p>
            <a:pPr algn="ctr">
              <a:lnSpc>
                <a:spcPct val="110000"/>
              </a:lnSpc>
            </a:pPr>
            <a:r>
              <a:rPr sz="1000" b="0" i="0">
                <a:solidFill>
                  <a:srgbClr val="C7D0DA"/>
                </a:solidFill>
                <a:latin typeface="Arial"/>
              </a:rPr>
              <a:t>Mask · ground · score · audit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10325861" y="3118103"/>
            <a:ext cx="0" cy="237745"/>
          </a:xfrm>
          <a:prstGeom prst="line">
            <a:avLst/>
          </a:prstGeom>
          <a:ln w="15875">
            <a:solidFill>
              <a:srgbClr val="5C7185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9029699" y="3383279"/>
            <a:ext cx="2592324" cy="1261872"/>
          </a:xfrm>
          <a:prstGeom prst="roundRect">
            <a:avLst>
              <a:gd name="adj" fmla="val 7000"/>
            </a:avLst>
          </a:prstGeom>
          <a:solidFill>
            <a:srgbClr val="263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>
              <a:spcAft>
                <a:spcPts val="400"/>
              </a:spcAft>
            </a:pPr>
            <a:r>
              <a:rPr sz="1350" b="1" i="0">
                <a:solidFill>
                  <a:srgbClr val="FFFFFF"/>
                </a:solidFill>
                <a:latin typeface="Georgia"/>
              </a:rPr>
              <a:t>Data Hub</a:t>
            </a:r>
          </a:p>
          <a:p>
            <a:pPr algn="ctr">
              <a:lnSpc>
                <a:spcPct val="110000"/>
              </a:lnSpc>
            </a:pPr>
            <a:r>
              <a:rPr sz="1000" b="0" i="0">
                <a:solidFill>
                  <a:srgbClr val="C7D0DA"/>
                </a:solidFill>
                <a:latin typeface="Arial"/>
              </a:rPr>
              <a:t>Per-site CSV ingestion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4684014" y="4672584"/>
            <a:ext cx="0" cy="256032"/>
          </a:xfrm>
          <a:prstGeom prst="line">
            <a:avLst/>
          </a:prstGeom>
          <a:ln w="15875">
            <a:solidFill>
              <a:srgbClr val="5C7185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7504938" y="4672584"/>
            <a:ext cx="0" cy="256032"/>
          </a:xfrm>
          <a:prstGeom prst="line">
            <a:avLst/>
          </a:prstGeom>
          <a:ln w="15875">
            <a:solidFill>
              <a:srgbClr val="5C7185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566928" y="4956048"/>
            <a:ext cx="5390388" cy="841248"/>
          </a:xfrm>
          <a:prstGeom prst="roundRect">
            <a:avLst>
              <a:gd name="adj" fmla="val 8000"/>
            </a:avLst>
          </a:prstGeom>
          <a:solidFill>
            <a:srgbClr val="1B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sz="1400" b="1" i="0">
                <a:solidFill>
                  <a:srgbClr val="FFFFFF"/>
                </a:solidFill>
                <a:latin typeface="Arial"/>
              </a:rPr>
              <a:t>PostgreSQL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31636" y="4956048"/>
            <a:ext cx="5390388" cy="84124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>
              <a:spcAft>
                <a:spcPts val="200"/>
              </a:spcAft>
            </a:pPr>
            <a:r>
              <a:rPr sz="1400" b="1" i="0">
                <a:solidFill>
                  <a:srgbClr val="263A4E"/>
                </a:solidFill>
                <a:latin typeface="Arial"/>
              </a:rPr>
              <a:t>Claude API</a:t>
            </a:r>
          </a:p>
          <a:p>
            <a:pPr algn="ctr"/>
            <a:r>
              <a:rPr sz="1050" b="0" i="0">
                <a:solidFill>
                  <a:srgbClr val="5C7185"/>
                </a:solidFill>
                <a:latin typeface="Arial"/>
              </a:rPr>
              <a:t>(phrasing only — grounded)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56032"/>
            <a:ext cx="2743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 spc="300">
                <a:solidFill>
                  <a:srgbClr val="5C7185"/>
                </a:solidFill>
                <a:latin typeface="Arial"/>
              </a:rPr>
              <a:t>OBRADORIQ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66928" y="6473952"/>
            <a:ext cx="11055096" cy="0"/>
          </a:xfrm>
          <a:prstGeom prst="line">
            <a:avLst/>
          </a:prstGeom>
          <a:ln w="9525">
            <a:solidFill>
              <a:srgbClr val="E2DED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10607040" y="6528816"/>
            <a:ext cx="1014984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6E7780"/>
                </a:solidFill>
                <a:latin typeface="Arial"/>
              </a:rPr>
              <a:t>8 / 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03504"/>
            <a:ext cx="1097280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 i="0">
                <a:solidFill>
                  <a:srgbClr val="263A4E"/>
                </a:solidFill>
                <a:latin typeface="Georgia"/>
              </a:rPr>
              <a:t>PERSONAS</a:t>
            </a:r>
          </a:p>
        </p:txBody>
      </p:sp>
      <p:sp>
        <p:nvSpPr>
          <p:cNvPr id="6" name="Rectangle 5"/>
          <p:cNvSpPr/>
          <p:nvPr/>
        </p:nvSpPr>
        <p:spPr>
          <a:xfrm>
            <a:off x="576072" y="1098296"/>
            <a:ext cx="960120" cy="29260"/>
          </a:xfrm>
          <a:prstGeom prst="rect">
            <a:avLst/>
          </a:prstGeom>
          <a:solidFill>
            <a:srgbClr val="D129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1389888"/>
            <a:ext cx="10972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D1294B"/>
                </a:solidFill>
                <a:latin typeface="Arial"/>
              </a:rPr>
              <a:t>Who is the user(s)?  </a:t>
            </a:r>
            <a:r>
              <a:rPr sz="1300" b="0" i="0">
                <a:solidFill>
                  <a:srgbClr val="5C7185"/>
                </a:solidFill>
                <a:latin typeface="Arial"/>
              </a:rPr>
              <a:t>Three roles per chain, one shared plan: the owner decides, the manager reallocates across sites, the baker executes each morning.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1938528"/>
            <a:ext cx="3529584" cy="4251960"/>
          </a:xfrm>
          <a:prstGeom prst="roundRect">
            <a:avLst>
              <a:gd name="adj" fmla="val 5000"/>
            </a:avLst>
          </a:prstGeom>
          <a:solidFill>
            <a:srgbClr val="F6F3ED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943100" y="2212848"/>
            <a:ext cx="777240" cy="777240"/>
          </a:xfrm>
          <a:prstGeom prst="ellipse">
            <a:avLst/>
          </a:prstGeom>
          <a:solidFill>
            <a:srgbClr val="263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2600" b="1">
                <a:solidFill>
                  <a:srgbClr val="FFFFFF"/>
                </a:solidFill>
                <a:latin typeface="Georgia"/>
              </a:rPr>
              <a:t>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3127248"/>
            <a:ext cx="3163824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700" b="1" i="0">
                <a:solidFill>
                  <a:srgbClr val="263A4E"/>
                </a:solidFill>
                <a:latin typeface="Georgia"/>
              </a:rPr>
              <a:t>Marta, 47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9808" y="3474720"/>
            <a:ext cx="3163824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950" b="1" i="0" spc="120">
                <a:solidFill>
                  <a:srgbClr val="263A4E"/>
                </a:solidFill>
                <a:latin typeface="Arial"/>
              </a:rPr>
              <a:t>CHAIN OWNER — FINAL DECISION-MAKER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1069848" y="3895344"/>
            <a:ext cx="2523743" cy="0"/>
          </a:xfrm>
          <a:prstGeom prst="line">
            <a:avLst/>
          </a:prstGeom>
          <a:ln w="12700">
            <a:solidFill>
              <a:srgbClr val="E2DED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859536" y="4096512"/>
            <a:ext cx="2944368" cy="1965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900"/>
              </a:spcAft>
            </a:pPr>
            <a:r>
              <a:rPr sz="1100" b="1" i="0">
                <a:solidFill>
                  <a:srgbClr val="263A4E"/>
                </a:solidFill>
                <a:latin typeface="Arial"/>
              </a:rPr>
              <a:t>▸  </a:t>
            </a:r>
            <a:r>
              <a:rPr sz="1100" b="0" i="0">
                <a:solidFill>
                  <a:srgbClr val="263A4E"/>
                </a:solidFill>
                <a:latin typeface="Arial"/>
              </a:rPr>
              <a:t>Wants € recovered, not statistics</a:t>
            </a:r>
          </a:p>
          <a:p>
            <a:pPr algn="l">
              <a:lnSpc>
                <a:spcPct val="110000"/>
              </a:lnSpc>
              <a:spcAft>
                <a:spcPts val="900"/>
              </a:spcAft>
            </a:pPr>
            <a:r>
              <a:rPr sz="1100" b="1" i="0">
                <a:solidFill>
                  <a:srgbClr val="263A4E"/>
                </a:solidFill>
                <a:latin typeface="Arial"/>
              </a:rPr>
              <a:t>▸  </a:t>
            </a:r>
            <a:r>
              <a:rPr sz="1100" b="0" i="0">
                <a:solidFill>
                  <a:srgbClr val="263A4E"/>
                </a:solidFill>
                <a:latin typeface="Arial"/>
              </a:rPr>
              <a:t>Checks the app once each morning, on her phone</a:t>
            </a:r>
          </a:p>
          <a:p>
            <a:pPr algn="l">
              <a:lnSpc>
                <a:spcPct val="110000"/>
              </a:lnSpc>
              <a:spcAft>
                <a:spcPts val="900"/>
              </a:spcAft>
            </a:pPr>
            <a:r>
              <a:rPr sz="1100" b="1" i="0">
                <a:solidFill>
                  <a:srgbClr val="263A4E"/>
                </a:solidFill>
                <a:latin typeface="Arial"/>
              </a:rPr>
              <a:t>▸  </a:t>
            </a:r>
            <a:r>
              <a:rPr sz="1100" b="0" i="0">
                <a:solidFill>
                  <a:srgbClr val="263A4E"/>
                </a:solidFill>
                <a:latin typeface="Arial"/>
              </a:rPr>
              <a:t>Risk-averse — always keeps the final call</a:t>
            </a:r>
          </a:p>
          <a:p>
            <a:pPr algn="l">
              <a:lnSpc>
                <a:spcPct val="110000"/>
              </a:lnSpc>
              <a:spcAft>
                <a:spcPts val="900"/>
              </a:spcAft>
            </a:pPr>
            <a:r>
              <a:rPr sz="1100" b="1" i="0">
                <a:solidFill>
                  <a:srgbClr val="263A4E"/>
                </a:solidFill>
                <a:latin typeface="Arial"/>
              </a:rPr>
              <a:t>▸  </a:t>
            </a:r>
            <a:r>
              <a:rPr sz="1100" b="0" i="0">
                <a:solidFill>
                  <a:srgbClr val="263A4E"/>
                </a:solidFill>
                <a:latin typeface="Arial"/>
              </a:rPr>
              <a:t>15 years running the shops on gut feel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25112" y="1938528"/>
            <a:ext cx="3529584" cy="4251960"/>
          </a:xfrm>
          <a:prstGeom prst="roundRect">
            <a:avLst>
              <a:gd name="adj" fmla="val 5000"/>
            </a:avLst>
          </a:prstGeom>
          <a:solidFill>
            <a:srgbClr val="F6F3ED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5701283" y="2212848"/>
            <a:ext cx="777240" cy="777240"/>
          </a:xfrm>
          <a:prstGeom prst="ellipse">
            <a:avLst/>
          </a:prstGeom>
          <a:solidFill>
            <a:srgbClr val="D129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2600" b="1">
                <a:solidFill>
                  <a:srgbClr val="FFFFFF"/>
                </a:solidFill>
                <a:latin typeface="Georgia"/>
              </a:rPr>
              <a:t>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07992" y="3127248"/>
            <a:ext cx="3163824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700" b="1" i="0">
                <a:solidFill>
                  <a:srgbClr val="263A4E"/>
                </a:solidFill>
                <a:latin typeface="Georgia"/>
              </a:rPr>
              <a:t>Diego, 24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07992" y="3474720"/>
            <a:ext cx="3163824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950" b="1" i="0" spc="120">
                <a:solidFill>
                  <a:srgbClr val="D1294B"/>
                </a:solidFill>
                <a:latin typeface="Arial"/>
              </a:rPr>
              <a:t>SHIFT BAKER — EXECUTES THE PLAN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4828031" y="3895344"/>
            <a:ext cx="2523744" cy="0"/>
          </a:xfrm>
          <a:prstGeom prst="line">
            <a:avLst/>
          </a:prstGeom>
          <a:ln w="12700">
            <a:solidFill>
              <a:srgbClr val="E2DED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4617720" y="4096512"/>
            <a:ext cx="2944368" cy="1965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900"/>
              </a:spcAft>
            </a:pPr>
            <a:r>
              <a:rPr sz="1100" b="1" i="0">
                <a:solidFill>
                  <a:srgbClr val="D1294B"/>
                </a:solidFill>
                <a:latin typeface="Arial"/>
              </a:rPr>
              <a:t>▸  </a:t>
            </a:r>
            <a:r>
              <a:rPr sz="1100" b="0" i="0">
                <a:solidFill>
                  <a:srgbClr val="263A4E"/>
                </a:solidFill>
                <a:latin typeface="Arial"/>
              </a:rPr>
              <a:t>Needs a one-page printable bake list</a:t>
            </a:r>
          </a:p>
          <a:p>
            <a:pPr algn="l">
              <a:lnSpc>
                <a:spcPct val="110000"/>
              </a:lnSpc>
              <a:spcAft>
                <a:spcPts val="900"/>
              </a:spcAft>
            </a:pPr>
            <a:r>
              <a:rPr sz="1100" b="1" i="0">
                <a:solidFill>
                  <a:srgbClr val="D1294B"/>
                </a:solidFill>
                <a:latin typeface="Arial"/>
              </a:rPr>
              <a:t>▸  </a:t>
            </a:r>
            <a:r>
              <a:rPr sz="1100" b="0" i="0">
                <a:solidFill>
                  <a:srgbClr val="263A4E"/>
                </a:solidFill>
                <a:latin typeface="Arial"/>
              </a:rPr>
              <a:t>On shift at 5am — no time for a dashboard</a:t>
            </a:r>
          </a:p>
          <a:p>
            <a:pPr algn="l">
              <a:lnSpc>
                <a:spcPct val="110000"/>
              </a:lnSpc>
              <a:spcAft>
                <a:spcPts val="900"/>
              </a:spcAft>
            </a:pPr>
            <a:r>
              <a:rPr sz="1100" b="1" i="0">
                <a:solidFill>
                  <a:srgbClr val="D1294B"/>
                </a:solidFill>
                <a:latin typeface="Arial"/>
              </a:rPr>
              <a:t>▸  </a:t>
            </a:r>
            <a:r>
              <a:rPr sz="1100" b="0" i="0">
                <a:solidFill>
                  <a:srgbClr val="263A4E"/>
                </a:solidFill>
                <a:latin typeface="Arial"/>
              </a:rPr>
              <a:t>Wants a number per product, not a probability</a:t>
            </a:r>
          </a:p>
          <a:p>
            <a:pPr algn="l">
              <a:lnSpc>
                <a:spcPct val="110000"/>
              </a:lnSpc>
              <a:spcAft>
                <a:spcPts val="900"/>
              </a:spcAft>
            </a:pPr>
            <a:r>
              <a:rPr sz="1100" b="1" i="0">
                <a:solidFill>
                  <a:srgbClr val="D1294B"/>
                </a:solidFill>
                <a:latin typeface="Arial"/>
              </a:rPr>
              <a:t>▸  </a:t>
            </a:r>
            <a:r>
              <a:rPr sz="1100" b="0" i="0">
                <a:solidFill>
                  <a:srgbClr val="263A4E"/>
                </a:solidFill>
                <a:latin typeface="Arial"/>
              </a:rPr>
              <a:t>The printed sheet is his interface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083295" y="1938528"/>
            <a:ext cx="3529584" cy="4251960"/>
          </a:xfrm>
          <a:prstGeom prst="roundRect">
            <a:avLst>
              <a:gd name="adj" fmla="val 5000"/>
            </a:avLst>
          </a:prstGeom>
          <a:solidFill>
            <a:srgbClr val="F6F3ED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9459467" y="2212848"/>
            <a:ext cx="777240" cy="777240"/>
          </a:xfrm>
          <a:prstGeom prst="ellipse">
            <a:avLst/>
          </a:prstGeom>
          <a:solidFill>
            <a:srgbClr val="5C71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2600" b="1">
                <a:solidFill>
                  <a:srgbClr val="FFFFFF"/>
                </a:solidFill>
                <a:latin typeface="Georgia"/>
              </a:rPr>
              <a:t>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66175" y="3127248"/>
            <a:ext cx="3163824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700" b="1" i="0">
                <a:solidFill>
                  <a:srgbClr val="263A4E"/>
                </a:solidFill>
                <a:latin typeface="Georgia"/>
              </a:rPr>
              <a:t>Sofia, 35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66175" y="3474720"/>
            <a:ext cx="3163824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950" b="1" i="0" spc="120">
                <a:solidFill>
                  <a:srgbClr val="5C7185"/>
                </a:solidFill>
                <a:latin typeface="Arial"/>
              </a:rPr>
              <a:t>OPS MANAGER — OVERSEES 2-4 SITES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8586215" y="3895344"/>
            <a:ext cx="2523744" cy="0"/>
          </a:xfrm>
          <a:prstGeom prst="line">
            <a:avLst/>
          </a:prstGeom>
          <a:ln w="12700">
            <a:solidFill>
              <a:srgbClr val="E2DED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8375903" y="4096512"/>
            <a:ext cx="2944368" cy="1965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900"/>
              </a:spcAft>
            </a:pPr>
            <a:r>
              <a:rPr sz="1100" b="1" i="0">
                <a:solidFill>
                  <a:srgbClr val="5C7185"/>
                </a:solidFill>
                <a:latin typeface="Arial"/>
              </a:rPr>
              <a:t>▸  </a:t>
            </a:r>
            <a:r>
              <a:rPr sz="1100" b="0" i="0">
                <a:solidFill>
                  <a:srgbClr val="263A4E"/>
                </a:solidFill>
                <a:latin typeface="Arial"/>
              </a:rPr>
              <a:t>Wants to see the cross-site imbalance</a:t>
            </a:r>
          </a:p>
          <a:p>
            <a:pPr algn="l">
              <a:lnSpc>
                <a:spcPct val="110000"/>
              </a:lnSpc>
              <a:spcAft>
                <a:spcPts val="900"/>
              </a:spcAft>
            </a:pPr>
            <a:r>
              <a:rPr sz="1100" b="1" i="0">
                <a:solidFill>
                  <a:srgbClr val="5C7185"/>
                </a:solidFill>
                <a:latin typeface="Arial"/>
              </a:rPr>
              <a:t>▸  </a:t>
            </a:r>
            <a:r>
              <a:rPr sz="1100" b="0" i="0">
                <a:solidFill>
                  <a:srgbClr val="263A4E"/>
                </a:solidFill>
                <a:latin typeface="Arial"/>
              </a:rPr>
              <a:t>Approves or rejects each reallocation</a:t>
            </a:r>
          </a:p>
          <a:p>
            <a:pPr algn="l">
              <a:lnSpc>
                <a:spcPct val="110000"/>
              </a:lnSpc>
              <a:spcAft>
                <a:spcPts val="900"/>
              </a:spcAft>
            </a:pPr>
            <a:r>
              <a:rPr sz="1100" b="1" i="0">
                <a:solidFill>
                  <a:srgbClr val="5C7185"/>
                </a:solidFill>
                <a:latin typeface="Arial"/>
              </a:rPr>
              <a:t>▸  </a:t>
            </a:r>
            <a:r>
              <a:rPr sz="1100" b="0" i="0">
                <a:solidFill>
                  <a:srgbClr val="263A4E"/>
                </a:solidFill>
                <a:latin typeface="Arial"/>
              </a:rPr>
              <a:t>Reviews weekly waste + True Margin</a:t>
            </a:r>
          </a:p>
          <a:p>
            <a:pPr algn="l">
              <a:lnSpc>
                <a:spcPct val="110000"/>
              </a:lnSpc>
              <a:spcAft>
                <a:spcPts val="900"/>
              </a:spcAft>
            </a:pPr>
            <a:r>
              <a:rPr sz="1100" b="1" i="0">
                <a:solidFill>
                  <a:srgbClr val="5C7185"/>
                </a:solidFill>
                <a:latin typeface="Arial"/>
              </a:rPr>
              <a:t>▸  </a:t>
            </a:r>
            <a:r>
              <a:rPr sz="1100" b="0" i="0">
                <a:solidFill>
                  <a:srgbClr val="263A4E"/>
                </a:solidFill>
                <a:latin typeface="Arial"/>
              </a:rPr>
              <a:t>Needs an audit trail for every change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56032"/>
            <a:ext cx="2743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 spc="300">
                <a:solidFill>
                  <a:srgbClr val="5C7185"/>
                </a:solidFill>
                <a:latin typeface="Arial"/>
              </a:rPr>
              <a:t>OBRADORIQ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66928" y="6473952"/>
            <a:ext cx="11055096" cy="0"/>
          </a:xfrm>
          <a:prstGeom prst="line">
            <a:avLst/>
          </a:prstGeom>
          <a:ln w="9525">
            <a:solidFill>
              <a:srgbClr val="E2DED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10607040" y="6528816"/>
            <a:ext cx="1014984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6E7780"/>
                </a:solidFill>
                <a:latin typeface="Arial"/>
              </a:rPr>
              <a:t>9 / 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03504"/>
            <a:ext cx="1097280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 i="0">
                <a:solidFill>
                  <a:srgbClr val="263A4E"/>
                </a:solidFill>
                <a:latin typeface="Georgia"/>
              </a:rPr>
              <a:t>JUMP START</a:t>
            </a:r>
          </a:p>
        </p:txBody>
      </p:sp>
      <p:sp>
        <p:nvSpPr>
          <p:cNvPr id="6" name="Rectangle 5"/>
          <p:cNvSpPr/>
          <p:nvPr/>
        </p:nvSpPr>
        <p:spPr>
          <a:xfrm>
            <a:off x="576072" y="1098296"/>
            <a:ext cx="960120" cy="29260"/>
          </a:xfrm>
          <a:prstGeom prst="rect">
            <a:avLst/>
          </a:prstGeom>
          <a:solidFill>
            <a:srgbClr val="D129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1244599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5C7185"/>
                </a:solidFill>
                <a:latin typeface="Arial"/>
              </a:rPr>
              <a:t>How will we get started quickly?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057400"/>
            <a:ext cx="11055096" cy="117043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66928" y="2057400"/>
            <a:ext cx="54864" cy="1170432"/>
          </a:xfrm>
          <a:prstGeom prst="rect">
            <a:avLst/>
          </a:prstGeom>
          <a:solidFill>
            <a:srgbClr val="D129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68680" y="2391156"/>
            <a:ext cx="502920" cy="502920"/>
          </a:xfrm>
          <a:prstGeom prst="ellipse">
            <a:avLst/>
          </a:prstGeom>
          <a:solidFill>
            <a:srgbClr val="263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Georgi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45920" y="2276856"/>
            <a:ext cx="969264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50" b="0" i="0">
                <a:solidFill>
                  <a:srgbClr val="263A4E"/>
                </a:solidFill>
                <a:latin typeface="Arial"/>
              </a:rPr>
              <a:t>Our own network: a 2-4 site Madrid bakery chain a teammate has direct access to, plus the class demo audience as first testers.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3520440"/>
            <a:ext cx="11055096" cy="117043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66928" y="3520440"/>
            <a:ext cx="54864" cy="1170432"/>
          </a:xfrm>
          <a:prstGeom prst="rect">
            <a:avLst/>
          </a:prstGeom>
          <a:solidFill>
            <a:srgbClr val="D129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68680" y="3854196"/>
            <a:ext cx="502920" cy="502920"/>
          </a:xfrm>
          <a:prstGeom prst="ellipse">
            <a:avLst/>
          </a:prstGeom>
          <a:solidFill>
            <a:srgbClr val="263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Georgi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45920" y="3739896"/>
            <a:ext cx="969264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50" b="0" i="0">
                <a:solidFill>
                  <a:srgbClr val="263A4E"/>
                </a:solidFill>
                <a:latin typeface="Arial"/>
              </a:rPr>
              <a:t>They match the Need persona exactly: an owner planning by gut feel who already tracks daily waste by hand.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4983480"/>
            <a:ext cx="11055096" cy="117043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66928" y="4983480"/>
            <a:ext cx="54864" cy="1170432"/>
          </a:xfrm>
          <a:prstGeom prst="rect">
            <a:avLst/>
          </a:prstGeom>
          <a:solidFill>
            <a:srgbClr val="D129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68680" y="5317236"/>
            <a:ext cx="502920" cy="502920"/>
          </a:xfrm>
          <a:prstGeom prst="ellipse">
            <a:avLst/>
          </a:prstGeom>
          <a:solidFill>
            <a:srgbClr val="263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Georgi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45920" y="5202936"/>
            <a:ext cx="969264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50" b="0" i="0">
                <a:solidFill>
                  <a:srgbClr val="263A4E"/>
                </a:solidFill>
                <a:latin typeface="Arial"/>
              </a:rPr>
              <a:t>Minimum work for real value: CSV/paste ingestion of their sales + waste history — forecast, plan, and Trust Layer are already built and tested.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